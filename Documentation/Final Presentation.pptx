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62" r:id="rId4"/>
    <p:sldId id="265" r:id="rId5"/>
    <p:sldId id="266" r:id="rId6"/>
    <p:sldId id="263" r:id="rId7"/>
    <p:sldId id="259" r:id="rId8"/>
    <p:sldId id="260" r:id="rId9"/>
    <p:sldId id="264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60" d="100"/>
          <a:sy n="60" d="100"/>
        </p:scale>
        <p:origin x="916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86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29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4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9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051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1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652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29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76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341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283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2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3C5560-7A9C-489F-9148-18C5E1D0F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687BC-7100-D94C-216C-E371A280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8043" y="590062"/>
            <a:ext cx="5309140" cy="2838938"/>
          </a:xfrm>
        </p:spPr>
        <p:txBody>
          <a:bodyPr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Applied Machine Learning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FDE44-00FB-97D2-12BD-70F4EAB28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8044" y="3739764"/>
            <a:ext cx="4517954" cy="119812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Jordan Miller and Sydney Williams</a:t>
            </a:r>
          </a:p>
          <a:p>
            <a:r>
              <a:rPr lang="en-US" sz="20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11" name="!!plus graphic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236" y="1606411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!!dot graphic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014" y="183570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!!circle graphic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696" y="2060130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!!Straight Connector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50520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836425" y="5436655"/>
            <a:ext cx="151536" cy="15153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245175" y="5896734"/>
            <a:ext cx="108625" cy="1086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554288" y="6038004"/>
            <a:ext cx="95759" cy="957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0A379D-D9C7-8BC2-34A3-729465F622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99" r="20391" b="2"/>
          <a:stretch>
            <a:fillRect/>
          </a:stretch>
        </p:blipFill>
        <p:spPr>
          <a:xfrm>
            <a:off x="6740358" y="1606411"/>
            <a:ext cx="5451642" cy="5251590"/>
          </a:xfrm>
          <a:custGeom>
            <a:avLst/>
            <a:gdLst/>
            <a:ahLst/>
            <a:cxnLst/>
            <a:rect l="l" t="t" r="r" b="b"/>
            <a:pathLst>
              <a:path w="5923214" h="5705857">
                <a:moveTo>
                  <a:pt x="3612238" y="0"/>
                </a:moveTo>
                <a:cubicBezTo>
                  <a:pt x="4485043" y="0"/>
                  <a:pt x="5285549" y="309553"/>
                  <a:pt x="5909957" y="824860"/>
                </a:cubicBezTo>
                <a:lnTo>
                  <a:pt x="5923214" y="836909"/>
                </a:lnTo>
                <a:lnTo>
                  <a:pt x="5923214" y="5705857"/>
                </a:lnTo>
                <a:lnTo>
                  <a:pt x="672237" y="5705857"/>
                </a:lnTo>
                <a:lnTo>
                  <a:pt x="616914" y="5631875"/>
                </a:lnTo>
                <a:cubicBezTo>
                  <a:pt x="227427" y="5055358"/>
                  <a:pt x="0" y="4360357"/>
                  <a:pt x="0" y="3612238"/>
                </a:cubicBezTo>
                <a:cubicBezTo>
                  <a:pt x="0" y="1617255"/>
                  <a:pt x="1617255" y="0"/>
                  <a:pt x="361223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238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B5F4-3BF6-497A-48FF-017CB1559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</a:t>
            </a:r>
            <a:r>
              <a:rPr lang="en-US"/>
              <a:t>1a – Approach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B5B7B-EE18-EB6F-E7AD-6D5F1DEC6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Section (Traditional): Gradient Boosting + PCA</a:t>
            </a:r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(k=5) used to test multiple models</a:t>
            </a:r>
          </a:p>
          <a:p>
            <a:pPr lvl="2"/>
            <a:r>
              <a:rPr lang="en-US" dirty="0"/>
              <a:t>Logistic Regression, KNN, SVM...</a:t>
            </a:r>
          </a:p>
          <a:p>
            <a:pPr lvl="2"/>
            <a:r>
              <a:rPr lang="en-US" dirty="0"/>
              <a:t>Performance metric was accuracy over all 5 folds</a:t>
            </a:r>
          </a:p>
          <a:p>
            <a:pPr lvl="3"/>
            <a:r>
              <a:rPr lang="en-US" dirty="0"/>
              <a:t>Perfectly balanced classes</a:t>
            </a:r>
            <a:endParaRPr lang="en-US" b="1" dirty="0"/>
          </a:p>
          <a:p>
            <a:pPr lvl="1"/>
            <a:r>
              <a:rPr lang="en-US" dirty="0"/>
              <a:t>PCA to reduce dimensionality</a:t>
            </a:r>
          </a:p>
          <a:p>
            <a:pPr lvl="2"/>
            <a:r>
              <a:rPr lang="en-US" dirty="0"/>
              <a:t>48 dimensions to 31 dimensions</a:t>
            </a:r>
          </a:p>
          <a:p>
            <a:pPr lvl="2"/>
            <a:r>
              <a:rPr lang="en-US" dirty="0"/>
              <a:t>95% variance threshold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to normalize data</a:t>
            </a:r>
          </a:p>
          <a:p>
            <a:pPr lvl="1"/>
            <a:r>
              <a:rPr lang="en-US" dirty="0"/>
              <a:t>Used </a:t>
            </a:r>
            <a:r>
              <a:rPr lang="en-US" dirty="0" err="1"/>
              <a:t>GirdSearchCV</a:t>
            </a:r>
            <a:r>
              <a:rPr lang="en-US" dirty="0"/>
              <a:t> for some models</a:t>
            </a:r>
          </a:p>
        </p:txBody>
      </p:sp>
    </p:spTree>
    <p:extLst>
      <p:ext uri="{BB962C8B-B14F-4D97-AF65-F5344CB8AC3E}">
        <p14:creationId xmlns:p14="http://schemas.microsoft.com/office/powerpoint/2010/main" val="3583789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AD95-E2F3-1454-3809-832098E0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B685-5EAF-7CEA-BF76-3B9365AED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Five-fold CV results (80%)</a:t>
            </a:r>
          </a:p>
          <a:p>
            <a:pPr lvl="1"/>
            <a:r>
              <a:rPr lang="en-US" dirty="0"/>
              <a:t>Mean accuracy of 0.759</a:t>
            </a:r>
          </a:p>
          <a:p>
            <a:pPr lvl="1"/>
            <a:r>
              <a:rPr lang="en-US" dirty="0"/>
              <a:t>Mean F1 score of 0.758</a:t>
            </a:r>
          </a:p>
          <a:p>
            <a:r>
              <a:rPr lang="en-US" dirty="0"/>
              <a:t>20% held out set</a:t>
            </a:r>
          </a:p>
          <a:p>
            <a:pPr lvl="1"/>
            <a:r>
              <a:rPr lang="en-US" dirty="0"/>
              <a:t>Mean accuracy and F1 score of 0.760</a:t>
            </a:r>
          </a:p>
          <a:p>
            <a:r>
              <a:rPr lang="en-US" dirty="0"/>
              <a:t>Predicted Results on test set</a:t>
            </a:r>
          </a:p>
          <a:p>
            <a:pPr lvl="1"/>
            <a:r>
              <a:rPr lang="en-US" dirty="0"/>
              <a:t>Similar to held out set</a:t>
            </a:r>
          </a:p>
        </p:txBody>
      </p:sp>
    </p:spTree>
    <p:extLst>
      <p:ext uri="{BB962C8B-B14F-4D97-AF65-F5344CB8AC3E}">
        <p14:creationId xmlns:p14="http://schemas.microsoft.com/office/powerpoint/2010/main" val="70088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54F3D-4067-E7D6-865F-49FF49C1E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65C86-32DF-A074-928D-2764F1413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selection: Multi-Layer Perception (MLP)</a:t>
            </a:r>
          </a:p>
          <a:p>
            <a:pPr lvl="1"/>
            <a:r>
              <a:rPr lang="en-US" dirty="0"/>
              <a:t>Two hidden layers, 128 and 64 nodes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261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05E8D-91D7-813C-F768-58A813FB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77AF6-26F1-7D95-A069-4F49FCBF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16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40810-D060-8C4E-8BAA-E64C6833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E2549-1EBC-B27D-5B4C-56123FFE1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Training time is costly</a:t>
            </a:r>
          </a:p>
          <a:p>
            <a:pPr>
              <a:lnSpc>
                <a:spcPct val="200000"/>
              </a:lnSpc>
            </a:pPr>
            <a:r>
              <a:rPr lang="en-US" dirty="0"/>
              <a:t>PCA is powerful</a:t>
            </a:r>
          </a:p>
          <a:p>
            <a:pPr>
              <a:lnSpc>
                <a:spcPct val="200000"/>
              </a:lnSpc>
            </a:pPr>
            <a:r>
              <a:rPr lang="en-US" dirty="0"/>
              <a:t>Worth tuning hyperparameters?</a:t>
            </a:r>
          </a:p>
        </p:txBody>
      </p:sp>
    </p:spTree>
    <p:extLst>
      <p:ext uri="{BB962C8B-B14F-4D97-AF65-F5344CB8AC3E}">
        <p14:creationId xmlns:p14="http://schemas.microsoft.com/office/powerpoint/2010/main" val="2822892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FC0C-A23E-D74B-F1DF-5D461D2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BBA4F-AC3D-AC68-6162-E0F999A87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Model Selection (Traditional): </a:t>
            </a:r>
            <a:r>
              <a:rPr lang="en-US" dirty="0" err="1"/>
              <a:t>LogReg</a:t>
            </a:r>
            <a:endParaRPr lang="en-US" dirty="0"/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used to determine best model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endParaRPr lang="en-US" dirty="0"/>
          </a:p>
          <a:p>
            <a:r>
              <a:rPr lang="en-US" dirty="0"/>
              <a:t>Model Selection (Deep Learning): MLP</a:t>
            </a:r>
          </a:p>
          <a:p>
            <a:pPr lvl="1"/>
            <a:r>
              <a:rPr lang="en-US" dirty="0" err="1"/>
              <a:t>RepeatedStratifiedKFold</a:t>
            </a:r>
            <a:r>
              <a:rPr lang="en-US" dirty="0"/>
              <a:t> CV used to determine hyperparameters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r>
              <a:rPr lang="en-US" dirty="0" err="1"/>
              <a:t>ReLU</a:t>
            </a:r>
            <a:r>
              <a:rPr lang="en-US" dirty="0"/>
              <a:t> with 0.25 dropout</a:t>
            </a:r>
          </a:p>
          <a:p>
            <a:pPr lvl="1"/>
            <a:r>
              <a:rPr lang="en-US" dirty="0" err="1"/>
              <a:t>BatchNorm</a:t>
            </a:r>
            <a:r>
              <a:rPr lang="en-US" dirty="0"/>
              <a:t> used to normalize activations</a:t>
            </a:r>
          </a:p>
          <a:p>
            <a:pPr lvl="1"/>
            <a:r>
              <a:rPr lang="en-US" dirty="0" err="1"/>
              <a:t>BCEWithLogitsLoss</a:t>
            </a:r>
            <a:r>
              <a:rPr lang="en-US" dirty="0"/>
              <a:t> used to measure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0586-234F-A455-C049-C953A206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78C8-F244-57BA-FCE1-BB7325332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22E2-45CD-80E4-43BD-6E3DC616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</a:t>
            </a:r>
            <a:r>
              <a:rPr lang="en-US"/>
              <a:t>2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69714-4927-D2FD-DF64-9AC206900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dimensional, low sample count data is difficult to work with</a:t>
            </a:r>
          </a:p>
          <a:p>
            <a:pPr lvl="1"/>
            <a:r>
              <a:rPr lang="en-US" dirty="0"/>
              <a:t>Synthesizing data may not always work</a:t>
            </a:r>
          </a:p>
          <a:p>
            <a:pPr lvl="1"/>
            <a:endParaRPr lang="en-US" dirty="0"/>
          </a:p>
          <a:p>
            <a:r>
              <a:rPr lang="en-US" dirty="0"/>
              <a:t>Deep learning can be highly adaptable in ways even the best traditional learning methods aren’t</a:t>
            </a:r>
          </a:p>
        </p:txBody>
      </p:sp>
    </p:spTree>
    <p:extLst>
      <p:ext uri="{BB962C8B-B14F-4D97-AF65-F5344CB8AC3E}">
        <p14:creationId xmlns:p14="http://schemas.microsoft.com/office/powerpoint/2010/main" val="1077775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2D572-E7D2-348C-349D-BB4E872D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7200" b="1" i="0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4281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264</Words>
  <Application>Microsoft Office PowerPoint</Application>
  <PresentationFormat>Widescreen</PresentationFormat>
  <Paragraphs>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Gill Sans Nova</vt:lpstr>
      <vt:lpstr>GradientVTI</vt:lpstr>
      <vt:lpstr>Applied Machine Learning Final Project</vt:lpstr>
      <vt:lpstr>Part 1a – Approach</vt:lpstr>
      <vt:lpstr>Part 1a – Results</vt:lpstr>
      <vt:lpstr>Part 1b – Approach</vt:lpstr>
      <vt:lpstr>Part 1b – Results</vt:lpstr>
      <vt:lpstr>Part 1 – Conclusion</vt:lpstr>
      <vt:lpstr>Part 2 – Approach</vt:lpstr>
      <vt:lpstr>Part 2 – Results</vt:lpstr>
      <vt:lpstr>Part 2 – 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Sydney</dc:creator>
  <cp:lastModifiedBy>Williams, Sydney</cp:lastModifiedBy>
  <cp:revision>8</cp:revision>
  <dcterms:created xsi:type="dcterms:W3CDTF">2026-05-10T14:20:58Z</dcterms:created>
  <dcterms:modified xsi:type="dcterms:W3CDTF">2026-05-11T00:54:11Z</dcterms:modified>
</cp:coreProperties>
</file>