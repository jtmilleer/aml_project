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sldIdLst>
    <p:sldId id="256" r:id="rId2"/>
    <p:sldId id="257" r:id="rId3"/>
    <p:sldId id="262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39" d="100"/>
          <a:sy n="39" d="100"/>
        </p:scale>
        <p:origin x="3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66DA5-7751-4D3D-B753-58DF3B418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867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29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C2D1-D3FE-4B37-8740-57444421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AF550-086C-426E-A374-85DB39570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58988-AD39-4AE9-8E6A-0907F0BE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66319-82EE-408E-819F-8F8E6DBA7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1C8A6-777F-496D-8620-AE52BFC33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31F83B-57A8-4533-981C-D1FFAD2B6B6F}"/>
              </a:ext>
            </a:extLst>
          </p:cNvPr>
          <p:cNvCxnSpPr>
            <a:cxnSpLocks/>
          </p:cNvCxnSpPr>
          <p:nvPr/>
        </p:nvCxnSpPr>
        <p:spPr>
          <a:xfrm>
            <a:off x="715890" y="1701425"/>
            <a:ext cx="0" cy="5148262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949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D8FDCB-69DA-4A8F-8B91-5CFF7789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AC8C07-E0D3-4464-AE3C-25730D75C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596A6-734E-4AE0-BFB8-3089137B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9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6B3EF2-2C04-480F-A570-14E520DD0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F5783E-3073-4F4D-8B9C-C5B18DDA5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A75FE3-6719-4790-AA00-251BC2A6E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6051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715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652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8290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763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AD429-654B-4F0E-94E9-6FEF8EC67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8D60B2-06F5-4567-BE1F-BBA5270537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6F6F2-8269-4B80-8EE3-81FEE0F9D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C86E4-3EDE-4EB4-B1A3-A1198AADD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752B0-ACEC-49EF-8131-FCF35BC5C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0462E3-375D-4E76-8886-69E06985D069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341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23B094-F480-477B-901C-7181F88C07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52089-A920-4E52-98DC-8A5DC7B0AC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A074FE-F1B4-421F-A66E-FA351C8F9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764BA-3AB2-45FD-ABCB-975B3FDDF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B3FEF-8252-49FD-82F2-3E5FABC65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EB5C65-83BB-4EBD-AD22-EDA8489D0F5D}"/>
              </a:ext>
            </a:extLst>
          </p:cNvPr>
          <p:cNvCxnSpPr>
            <a:cxnSpLocks/>
          </p:cNvCxnSpPr>
          <p:nvPr/>
        </p:nvCxnSpPr>
        <p:spPr>
          <a:xfrm flipV="1">
            <a:off x="8313" y="261865"/>
            <a:ext cx="11353802" cy="1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1283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4B53A7-3209-46A6-9454-F38EAC8F11E7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325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11" r:id="rId7"/>
    <p:sldLayoutId id="2147483707" r:id="rId8"/>
    <p:sldLayoutId id="2147483708" r:id="rId9"/>
    <p:sldLayoutId id="2147483709" r:id="rId10"/>
    <p:sldLayoutId id="214748371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3C5560-7A9C-489F-9148-18C5E1D0F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D687BC-7100-D94C-216C-E371A280C0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8043" y="590062"/>
            <a:ext cx="5309140" cy="2838938"/>
          </a:xfrm>
        </p:spPr>
        <p:txBody>
          <a:bodyPr>
            <a:normAutofit/>
          </a:bodyPr>
          <a:lstStyle/>
          <a:p>
            <a:r>
              <a:rPr lang="en-US" sz="5000">
                <a:solidFill>
                  <a:schemeClr val="bg1"/>
                </a:solidFill>
              </a:rPr>
              <a:t>Applied Machine Learning Final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9FDE44-00FB-97D2-12BD-70F4EAB28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8044" y="3739764"/>
            <a:ext cx="4517954" cy="1198120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Jordan Miller and Sydney Williams</a:t>
            </a:r>
          </a:p>
          <a:p>
            <a:r>
              <a:rPr lang="en-US" sz="2000" dirty="0">
                <a:solidFill>
                  <a:schemeClr val="bg1"/>
                </a:solidFill>
              </a:rPr>
              <a:t>Spring 2026</a:t>
            </a:r>
          </a:p>
        </p:txBody>
      </p:sp>
      <p:sp>
        <p:nvSpPr>
          <p:cNvPr id="11" name="!!plus graphic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236" y="1606411"/>
            <a:ext cx="139038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!!dot graphic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8014" y="1835705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!!circle graphic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696" y="2060130"/>
            <a:ext cx="127713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7" name="!!Straight Connector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301262" y="350520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10836425" y="5436655"/>
            <a:ext cx="151536" cy="151536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1245175" y="5896734"/>
            <a:ext cx="108625" cy="108625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10554288" y="6038004"/>
            <a:ext cx="95759" cy="957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F0A379D-D9C7-8BC2-34A3-729465F622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99" r="20391" b="2"/>
          <a:stretch>
            <a:fillRect/>
          </a:stretch>
        </p:blipFill>
        <p:spPr>
          <a:xfrm>
            <a:off x="6740358" y="1606411"/>
            <a:ext cx="5451642" cy="5251590"/>
          </a:xfrm>
          <a:custGeom>
            <a:avLst/>
            <a:gdLst/>
            <a:ahLst/>
            <a:cxnLst/>
            <a:rect l="l" t="t" r="r" b="b"/>
            <a:pathLst>
              <a:path w="5923214" h="5705857">
                <a:moveTo>
                  <a:pt x="3612238" y="0"/>
                </a:moveTo>
                <a:cubicBezTo>
                  <a:pt x="4485043" y="0"/>
                  <a:pt x="5285549" y="309553"/>
                  <a:pt x="5909957" y="824860"/>
                </a:cubicBezTo>
                <a:lnTo>
                  <a:pt x="5923214" y="836909"/>
                </a:lnTo>
                <a:lnTo>
                  <a:pt x="5923214" y="5705857"/>
                </a:lnTo>
                <a:lnTo>
                  <a:pt x="672237" y="5705857"/>
                </a:lnTo>
                <a:lnTo>
                  <a:pt x="616914" y="5631875"/>
                </a:lnTo>
                <a:cubicBezTo>
                  <a:pt x="227427" y="5055358"/>
                  <a:pt x="0" y="4360357"/>
                  <a:pt x="0" y="3612238"/>
                </a:cubicBezTo>
                <a:cubicBezTo>
                  <a:pt x="0" y="1617255"/>
                  <a:pt x="1617255" y="0"/>
                  <a:pt x="3612238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92386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DB5F4-3BF6-497A-48FF-017CB1559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 – Traditional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B5B7B-EE18-EB6F-E7AD-6D5F1DEC6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3789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EAD95-E2F3-1454-3809-832098E09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 – Deep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7B685-5EAF-7CEA-BF76-3B9365AED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886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4FC0C-A23E-D74B-F1DF-5D461D216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Traditional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BBA4F-AC3D-AC68-6162-E0F999A87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Selection: </a:t>
            </a:r>
            <a:r>
              <a:rPr lang="en-US" dirty="0" err="1"/>
              <a:t>LogReg</a:t>
            </a:r>
            <a:endParaRPr lang="en-US" dirty="0"/>
          </a:p>
          <a:p>
            <a:pPr lvl="1"/>
            <a:r>
              <a:rPr lang="en-US" dirty="0" err="1"/>
              <a:t>StratifiedKFold</a:t>
            </a:r>
            <a:r>
              <a:rPr lang="en-US" dirty="0"/>
              <a:t> CV used to determine best model</a:t>
            </a:r>
          </a:p>
          <a:p>
            <a:pPr lvl="1"/>
            <a:r>
              <a:rPr lang="en-US" dirty="0" err="1"/>
              <a:t>StandardScalar</a:t>
            </a:r>
            <a:r>
              <a:rPr lang="en-US" dirty="0"/>
              <a:t> used to normalize data</a:t>
            </a:r>
          </a:p>
          <a:p>
            <a:pPr lvl="1"/>
            <a:r>
              <a:rPr lang="en-US" dirty="0" err="1"/>
              <a:t>SelectKBest</a:t>
            </a:r>
            <a:r>
              <a:rPr lang="en-US" dirty="0"/>
              <a:t> used to reduce dimensionality</a:t>
            </a:r>
          </a:p>
        </p:txBody>
      </p:sp>
    </p:spTree>
    <p:extLst>
      <p:ext uri="{BB962C8B-B14F-4D97-AF65-F5344CB8AC3E}">
        <p14:creationId xmlns:p14="http://schemas.microsoft.com/office/powerpoint/2010/main" val="185969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D0586-234F-A455-C049-C953A2065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Deep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478C8-F244-57BA-FCE1-BB7325332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Selection: MLP</a:t>
            </a:r>
          </a:p>
          <a:p>
            <a:pPr lvl="1"/>
            <a:r>
              <a:rPr lang="en-US" dirty="0" err="1"/>
              <a:t>RepeatedStratifiedKFold</a:t>
            </a:r>
            <a:r>
              <a:rPr lang="en-US" dirty="0"/>
              <a:t> CV used to determine hyperparameters</a:t>
            </a:r>
          </a:p>
          <a:p>
            <a:pPr lvl="1"/>
            <a:r>
              <a:rPr lang="en-US" dirty="0" err="1"/>
              <a:t>StandardScalar</a:t>
            </a:r>
            <a:r>
              <a:rPr lang="en-US" dirty="0"/>
              <a:t> used to normalize data</a:t>
            </a:r>
          </a:p>
          <a:p>
            <a:pPr lvl="1"/>
            <a:r>
              <a:rPr lang="en-US" dirty="0" err="1"/>
              <a:t>SelectKBest</a:t>
            </a:r>
            <a:r>
              <a:rPr lang="en-US" dirty="0"/>
              <a:t> used to reduce dimensionality</a:t>
            </a:r>
          </a:p>
          <a:p>
            <a:pPr lvl="1"/>
            <a:r>
              <a:rPr lang="en-US" dirty="0" err="1"/>
              <a:t>ReLU</a:t>
            </a:r>
            <a:r>
              <a:rPr lang="en-US" dirty="0"/>
              <a:t> with 0.25 dropout</a:t>
            </a:r>
          </a:p>
          <a:p>
            <a:pPr lvl="1"/>
            <a:r>
              <a:rPr lang="en-US" dirty="0" err="1"/>
              <a:t>BatchNorm</a:t>
            </a:r>
            <a:r>
              <a:rPr lang="en-US" dirty="0"/>
              <a:t> used to normalize activations</a:t>
            </a:r>
          </a:p>
          <a:p>
            <a:pPr lvl="1"/>
            <a:r>
              <a:rPr lang="en-US" dirty="0" err="1"/>
              <a:t>BCEWithLogitsLoss</a:t>
            </a:r>
            <a:r>
              <a:rPr lang="en-US" dirty="0"/>
              <a:t> used to measure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993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B787A8-0D67-4B7E-9B48-86BD906AB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12D572-E7D2-348C-349D-BB4E872D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0430" y="583345"/>
            <a:ext cx="7160357" cy="41648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7200" b="1" i="0" kern="1200" cap="all" baseline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12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42817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Office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Univers">
      <a:majorFont>
        <a:latin typeface="Gill Sans Nova"/>
        <a:ea typeface=""/>
        <a:cs typeface=""/>
      </a:majorFont>
      <a:minorFont>
        <a:latin typeface="Gill Sans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VTI" id="{605F9078-86F9-4258-A3E1-F8EFF02AE8CC}" vid="{4848699B-BB01-41E3-9EC4-3D97DFE5292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87</Words>
  <Application>Microsoft Office PowerPoint</Application>
  <PresentationFormat>Widescreen</PresentationFormat>
  <Paragraphs>19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Gill Sans Nova</vt:lpstr>
      <vt:lpstr>GradientVTI</vt:lpstr>
      <vt:lpstr>Applied Machine Learning Final Project</vt:lpstr>
      <vt:lpstr>Part 1 – Traditional </vt:lpstr>
      <vt:lpstr>Part 1 – Deep Learning</vt:lpstr>
      <vt:lpstr>Part 2 – Traditional</vt:lpstr>
      <vt:lpstr>Part 2 – Deep Learning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Williams, Sydney</dc:creator>
  <cp:lastModifiedBy>Williams, Sydney</cp:lastModifiedBy>
  <cp:revision>5</cp:revision>
  <dcterms:created xsi:type="dcterms:W3CDTF">2026-05-10T14:20:58Z</dcterms:created>
  <dcterms:modified xsi:type="dcterms:W3CDTF">2026-05-10T14:52:17Z</dcterms:modified>
</cp:coreProperties>
</file>