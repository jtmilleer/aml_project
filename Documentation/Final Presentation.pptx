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12" r:id="rId1"/>
  </p:sldMasterIdLst>
  <p:sldIdLst>
    <p:sldId id="256" r:id="rId2"/>
    <p:sldId id="257" r:id="rId3"/>
    <p:sldId id="262" r:id="rId4"/>
    <p:sldId id="263" r:id="rId5"/>
    <p:sldId id="259" r:id="rId6"/>
    <p:sldId id="260" r:id="rId7"/>
    <p:sldId id="264" r:id="rId8"/>
    <p:sldId id="261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7" autoAdjust="0"/>
    <p:restoredTop sz="94660"/>
  </p:normalViewPr>
  <p:slideViewPr>
    <p:cSldViewPr snapToGrid="0">
      <p:cViewPr varScale="1">
        <p:scale>
          <a:sx n="60" d="100"/>
          <a:sy n="60" d="100"/>
        </p:scale>
        <p:origin x="916" y="3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640AAD-80AF-40E7-BE3F-43D32FC68ED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l">
              <a:defRPr sz="6000" b="1" i="0" cap="all" baseline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C80FBD9-0977-4B2B-9318-30774BB0947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E66DA5-7751-4D3D-B753-58DF3B4187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4B53A7-3209-46A6-9454-F38EAC8F11E7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8C2A2A-62DB-40C0-8AE7-CB9B98649B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01EAA4-F44C-4C1F-B8E3-1A3005300F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E633F-9882-4A5C-83A2-1109D0C73261}" type="slidenum">
              <a:rPr lang="en-US" smtClean="0"/>
              <a:t>‹#›</a:t>
            </a:fld>
            <a:endParaRPr lang="en-US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D1B787A8-0D67-4B7E-9B48-86BD906AB6B5}"/>
              </a:ext>
            </a:extLst>
          </p:cNvPr>
          <p:cNvCxnSpPr>
            <a:cxnSpLocks/>
          </p:cNvCxnSpPr>
          <p:nvPr/>
        </p:nvCxnSpPr>
        <p:spPr>
          <a:xfrm>
            <a:off x="715890" y="1114050"/>
            <a:ext cx="0" cy="5735637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568677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96CF8C-1EA0-4E47-AC60-CAC3B80A3C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8CABF8-19D8-4F3C-994F-4D35EC7A2C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97BB2D-4E2C-4490-A2A3-4B68BCC5D2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4B53A7-3209-46A6-9454-F38EAC8F11E7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40F15D-DD72-46D5-BF0F-F506471070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66FD4D-815A-431C-ADEF-DE6F236F61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E633F-9882-4A5C-83A2-1109D0C73261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5C05CAAB-DBA2-4548-AD5F-01BB97FBB207}"/>
              </a:ext>
            </a:extLst>
          </p:cNvPr>
          <p:cNvCxnSpPr>
            <a:cxnSpLocks/>
          </p:cNvCxnSpPr>
          <p:nvPr/>
        </p:nvCxnSpPr>
        <p:spPr>
          <a:xfrm>
            <a:off x="715890" y="356812"/>
            <a:ext cx="0" cy="6492875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692933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5FC2D1-D3FE-4B37-8740-57444421FD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 b="1" i="0" cap="all" baseline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A5AF550-086C-426E-A374-85DB3957017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A58988-AD39-4AE9-8E6A-0907F0BE26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4B53A7-3209-46A6-9454-F38EAC8F11E7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366319-82EE-408E-819F-8F8E6DBA7A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21C8A6-777F-496D-8620-AE52BFC33F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E633F-9882-4A5C-83A2-1109D0C73261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C031F83B-57A8-4533-981C-D1FFAD2B6B6F}"/>
              </a:ext>
            </a:extLst>
          </p:cNvPr>
          <p:cNvCxnSpPr>
            <a:cxnSpLocks/>
          </p:cNvCxnSpPr>
          <p:nvPr/>
        </p:nvCxnSpPr>
        <p:spPr>
          <a:xfrm>
            <a:off x="715890" y="1701425"/>
            <a:ext cx="0" cy="5148262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689490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257166-6921-4546-BA2C-99E464681F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5B9122-6371-4049-B57A-33DED7DA2F7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A14555D-0753-4312-A26B-2338813F9BB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3D8FDCB-69DA-4A8F-8B91-5CFF77897C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4B53A7-3209-46A6-9454-F38EAC8F11E7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1AC8C07-E0D3-4464-AE3C-25730D75C8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C2596A6-734E-4AE0-BFB8-3089137BF8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E633F-9882-4A5C-83A2-1109D0C73261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3FB7E8F4-3FB3-45AB-A381-9093CA95AAEE}"/>
              </a:ext>
            </a:extLst>
          </p:cNvPr>
          <p:cNvCxnSpPr>
            <a:cxnSpLocks/>
          </p:cNvCxnSpPr>
          <p:nvPr/>
        </p:nvCxnSpPr>
        <p:spPr>
          <a:xfrm>
            <a:off x="715890" y="356812"/>
            <a:ext cx="0" cy="6492875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51927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F057AE-3B3B-4261-B912-BF9EB9A58C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2A2D237-A706-4712-90CA-B04517CBBE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DE39CA1-2B6D-427E-9688-9093D5865C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3D53357-616B-47F4-944B-F979FE96635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D7EA593-3036-4FB5-94B4-D9431DF0487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86B3EF2-2C04-480F-A570-14E520DD00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4B53A7-3209-46A6-9454-F38EAC8F11E7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CF5783E-3073-4F4D-8B9C-C5B18DDA5A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1A75FE3-6719-4790-AA00-251BC2A6E5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E633F-9882-4A5C-83A2-1109D0C73261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160F34ED-DA60-4CC2-B735-B0EC5D9FEA35}"/>
              </a:ext>
            </a:extLst>
          </p:cNvPr>
          <p:cNvCxnSpPr>
            <a:cxnSpLocks/>
          </p:cNvCxnSpPr>
          <p:nvPr/>
        </p:nvCxnSpPr>
        <p:spPr>
          <a:xfrm>
            <a:off x="715890" y="356812"/>
            <a:ext cx="0" cy="6492875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460511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69F227-D21C-48B3-828A-6BFA9585E8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DF1DFFF-E5C5-43DF-B71C-7270DB9737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4B53A7-3209-46A6-9454-F38EAC8F11E7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EBC03C0-6EB7-4633-967C-12C35768BB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0FF4306-91CD-4B7B-8A53-34BE8F9975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E633F-9882-4A5C-83A2-1109D0C73261}" type="slidenum">
              <a:rPr lang="en-US" smtClean="0"/>
              <a:t>‹#›</a:t>
            </a:fld>
            <a:endParaRPr lang="en-US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57596AF9-469C-436D-B7D2-77952EF1825E}"/>
              </a:ext>
            </a:extLst>
          </p:cNvPr>
          <p:cNvCxnSpPr>
            <a:cxnSpLocks/>
          </p:cNvCxnSpPr>
          <p:nvPr/>
        </p:nvCxnSpPr>
        <p:spPr>
          <a:xfrm>
            <a:off x="715890" y="356812"/>
            <a:ext cx="0" cy="6492875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057152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DFF36D6-399B-43E3-84DD-9FC5119ECC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4B53A7-3209-46A6-9454-F38EAC8F11E7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0234AB7-3B85-4028-A500-5A1BDBF45C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C1F40F0-9909-442F-BBA4-409D061ED0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E633F-9882-4A5C-83A2-1109D0C73261}" type="slidenum">
              <a:rPr lang="en-US" smtClean="0"/>
              <a:t>‹#›</a:t>
            </a:fld>
            <a:endParaRPr lang="en-US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353C1207-D1C8-49E3-8837-E2B89D366FAE}"/>
              </a:ext>
            </a:extLst>
          </p:cNvPr>
          <p:cNvCxnSpPr>
            <a:cxnSpLocks/>
          </p:cNvCxnSpPr>
          <p:nvPr/>
        </p:nvCxnSpPr>
        <p:spPr>
          <a:xfrm>
            <a:off x="715890" y="356812"/>
            <a:ext cx="0" cy="6492875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756522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40F214-646F-4D81-AD12-65628EC987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F71768-C3FA-49EF-99EF-06E6C3B284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2DA6F24-ED6C-4D12-A9D6-EE37FBD6869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8E6AACE-FAFB-4934-8E3C-AB5B216353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4B53A7-3209-46A6-9454-F38EAC8F11E7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81533EA-D0F8-4C79-8721-F190DE2D2D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059BAC9-F101-4394-BBA4-3D21A34971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E633F-9882-4A5C-83A2-1109D0C73261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F3A79C9-7EDC-44F6-AC48-5DD98A7695AD}"/>
              </a:ext>
            </a:extLst>
          </p:cNvPr>
          <p:cNvCxnSpPr>
            <a:cxnSpLocks/>
          </p:cNvCxnSpPr>
          <p:nvPr/>
        </p:nvCxnSpPr>
        <p:spPr>
          <a:xfrm>
            <a:off x="715890" y="356812"/>
            <a:ext cx="0" cy="6492875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318290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4CB71F-B6C2-4866-BC97-304F78816E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55ED73B-8413-478D-80D7-B78B69763B6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1BDF226-1B94-4D2D-98B3-7B932FB17DA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00C4E9A-CA29-4CCD-ACFA-B29F80FBA1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4B53A7-3209-46A6-9454-F38EAC8F11E7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1A5B7BE-3F1B-4FF3-B1D7-6E39B99D07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42F18F1-E27E-470E-AE13-4755DEE63A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E633F-9882-4A5C-83A2-1109D0C73261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0F08750-B7F2-4119-B151-68DE77481335}"/>
              </a:ext>
            </a:extLst>
          </p:cNvPr>
          <p:cNvCxnSpPr>
            <a:cxnSpLocks/>
          </p:cNvCxnSpPr>
          <p:nvPr/>
        </p:nvCxnSpPr>
        <p:spPr>
          <a:xfrm>
            <a:off x="715890" y="356812"/>
            <a:ext cx="0" cy="6492875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757630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6AD429-654B-4F0E-94E9-6FEF8EC67E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68D60B2-06F5-4567-BE1F-BBA5270537B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16F6F2-8269-4B80-8EE3-81FEE0F9DF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4B53A7-3209-46A6-9454-F38EAC8F11E7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BC86E4-3EDE-4EB4-B1A3-A1198AADD1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1752B0-ACEC-49EF-8131-FCF35BC5CD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E633F-9882-4A5C-83A2-1109D0C73261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1A0462E3-375D-4E76-8886-69E06985D069}"/>
              </a:ext>
            </a:extLst>
          </p:cNvPr>
          <p:cNvCxnSpPr>
            <a:cxnSpLocks/>
          </p:cNvCxnSpPr>
          <p:nvPr/>
        </p:nvCxnSpPr>
        <p:spPr>
          <a:xfrm>
            <a:off x="715890" y="356812"/>
            <a:ext cx="0" cy="6492875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783414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423B094-F480-477B-901C-7181F88C076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D052089-A920-4E52-98DC-8A5DC7B0AC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4A074FE-F1B4-421F-A66E-FA351C8F99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4B53A7-3209-46A6-9454-F38EAC8F11E7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D764BA-3AB2-45FD-ABCB-975B3FDDF2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FB3FEF-8252-49FD-82F2-3E5FABC65F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E633F-9882-4A5C-83A2-1109D0C73261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0AEB5C65-83BB-4EBD-AD22-EDA8489D0F5D}"/>
              </a:ext>
            </a:extLst>
          </p:cNvPr>
          <p:cNvCxnSpPr>
            <a:cxnSpLocks/>
          </p:cNvCxnSpPr>
          <p:nvPr/>
        </p:nvCxnSpPr>
        <p:spPr>
          <a:xfrm flipV="1">
            <a:off x="8313" y="261865"/>
            <a:ext cx="11353802" cy="1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412838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FDA4224-F4E4-47A4-ACF7-2317493908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1679907-DC49-4B86-A34C-C97DBC26A9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DBC8A0-34FC-4B6E-B42B-A721267D890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="1" i="0" cap="all" spc="1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A4B53A7-3209-46A6-9454-F38EAC8F11E7}" type="datetimeFigureOut">
              <a:rPr lang="en-US" smtClean="0"/>
              <a:pPr/>
              <a:t>5/10/2026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9AC0B6-4CC4-4E41-8A4D-F62E17F2857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="1" i="0" cap="all" spc="1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C0E9BD-90BD-46AE-8A0D-06796ADB760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1" i="0" cap="all" spc="1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7CE633F-9882-4A5C-83A2-1109D0C7326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83251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1" r:id="rId1"/>
    <p:sldLayoutId id="2147483702" r:id="rId2"/>
    <p:sldLayoutId id="2147483703" r:id="rId3"/>
    <p:sldLayoutId id="2147483704" r:id="rId4"/>
    <p:sldLayoutId id="2147483705" r:id="rId5"/>
    <p:sldLayoutId id="2147483706" r:id="rId6"/>
    <p:sldLayoutId id="2147483711" r:id="rId7"/>
    <p:sldLayoutId id="2147483707" r:id="rId8"/>
    <p:sldLayoutId id="2147483708" r:id="rId9"/>
    <p:sldLayoutId id="2147483709" r:id="rId10"/>
    <p:sldLayoutId id="2147483710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8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jpeg"/><Relationship Id="rId4" Type="http://schemas.openxmlformats.org/officeDocument/2006/relationships/image" Target="../media/image3.sv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CE3C5560-7A9C-489F-9148-18C5E1D0F0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100000">
                <a:schemeClr val="accent4"/>
              </a:gs>
              <a:gs pos="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0D687BC-7100-D94C-216C-E371A280C0C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78043" y="590062"/>
            <a:ext cx="5309140" cy="2838938"/>
          </a:xfrm>
        </p:spPr>
        <p:txBody>
          <a:bodyPr>
            <a:normAutofit/>
          </a:bodyPr>
          <a:lstStyle/>
          <a:p>
            <a:r>
              <a:rPr lang="en-US" sz="5000">
                <a:solidFill>
                  <a:schemeClr val="bg1"/>
                </a:solidFill>
              </a:rPr>
              <a:t>Applied Machine Learning Final Project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D9FDE44-00FB-97D2-12BD-70F4EAB2853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78044" y="3739764"/>
            <a:ext cx="4517954" cy="1198120"/>
          </a:xfrm>
        </p:spPr>
        <p:txBody>
          <a:bodyPr>
            <a:normAutofit/>
          </a:bodyPr>
          <a:lstStyle/>
          <a:p>
            <a:r>
              <a:rPr lang="en-US" sz="2000" dirty="0">
                <a:solidFill>
                  <a:schemeClr val="bg1"/>
                </a:solidFill>
              </a:rPr>
              <a:t>Jordan Miller and Sydney Williams</a:t>
            </a:r>
          </a:p>
          <a:p>
            <a:r>
              <a:rPr lang="en-US" sz="2000" dirty="0">
                <a:solidFill>
                  <a:schemeClr val="bg1"/>
                </a:solidFill>
              </a:rPr>
              <a:t>Spring 2026</a:t>
            </a:r>
          </a:p>
        </p:txBody>
      </p:sp>
      <p:sp>
        <p:nvSpPr>
          <p:cNvPr id="11" name="!!plus graphic">
            <a:extLst>
              <a:ext uri="{FF2B5EF4-FFF2-40B4-BE49-F238E27FC236}">
                <a16:creationId xmlns:a16="http://schemas.microsoft.com/office/drawing/2014/main" id="{C5CB530E-515E-412C-9DF1-5F8FFBD6F3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236" y="1606411"/>
            <a:ext cx="139038" cy="139038"/>
          </a:xfrm>
          <a:custGeom>
            <a:avLst/>
            <a:gdLst>
              <a:gd name="connsiteX0" fmla="*/ 129601 w 139038"/>
              <a:gd name="connsiteY0" fmla="*/ 60082 h 139038"/>
              <a:gd name="connsiteX1" fmla="*/ 78956 w 139038"/>
              <a:gd name="connsiteY1" fmla="*/ 60082 h 139038"/>
              <a:gd name="connsiteX2" fmla="*/ 78956 w 139038"/>
              <a:gd name="connsiteY2" fmla="*/ 9437 h 139038"/>
              <a:gd name="connsiteX3" fmla="*/ 69519 w 139038"/>
              <a:gd name="connsiteY3" fmla="*/ 0 h 139038"/>
              <a:gd name="connsiteX4" fmla="*/ 60082 w 139038"/>
              <a:gd name="connsiteY4" fmla="*/ 9437 h 139038"/>
              <a:gd name="connsiteX5" fmla="*/ 60082 w 139038"/>
              <a:gd name="connsiteY5" fmla="*/ 60082 h 139038"/>
              <a:gd name="connsiteX6" fmla="*/ 9437 w 139038"/>
              <a:gd name="connsiteY6" fmla="*/ 60082 h 139038"/>
              <a:gd name="connsiteX7" fmla="*/ 0 w 139038"/>
              <a:gd name="connsiteY7" fmla="*/ 69519 h 139038"/>
              <a:gd name="connsiteX8" fmla="*/ 9437 w 139038"/>
              <a:gd name="connsiteY8" fmla="*/ 78956 h 139038"/>
              <a:gd name="connsiteX9" fmla="*/ 60082 w 139038"/>
              <a:gd name="connsiteY9" fmla="*/ 78956 h 139038"/>
              <a:gd name="connsiteX10" fmla="*/ 60082 w 139038"/>
              <a:gd name="connsiteY10" fmla="*/ 129601 h 139038"/>
              <a:gd name="connsiteX11" fmla="*/ 69519 w 139038"/>
              <a:gd name="connsiteY11" fmla="*/ 139038 h 139038"/>
              <a:gd name="connsiteX12" fmla="*/ 78956 w 139038"/>
              <a:gd name="connsiteY12" fmla="*/ 129601 h 139038"/>
              <a:gd name="connsiteX13" fmla="*/ 78956 w 139038"/>
              <a:gd name="connsiteY13" fmla="*/ 78956 h 139038"/>
              <a:gd name="connsiteX14" fmla="*/ 129601 w 139038"/>
              <a:gd name="connsiteY14" fmla="*/ 78956 h 139038"/>
              <a:gd name="connsiteX15" fmla="*/ 139038 w 139038"/>
              <a:gd name="connsiteY15" fmla="*/ 69519 h 139038"/>
              <a:gd name="connsiteX16" fmla="*/ 129601 w 139038"/>
              <a:gd name="connsiteY16" fmla="*/ 60082 h 1390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39038" h="139038">
                <a:moveTo>
                  <a:pt x="129601" y="60082"/>
                </a:moveTo>
                <a:lnTo>
                  <a:pt x="78956" y="60082"/>
                </a:lnTo>
                <a:lnTo>
                  <a:pt x="78956" y="9437"/>
                </a:lnTo>
                <a:cubicBezTo>
                  <a:pt x="78956" y="4225"/>
                  <a:pt x="74731" y="0"/>
                  <a:pt x="69519" y="0"/>
                </a:cubicBezTo>
                <a:cubicBezTo>
                  <a:pt x="64307" y="0"/>
                  <a:pt x="60082" y="4225"/>
                  <a:pt x="60082" y="9437"/>
                </a:cubicBezTo>
                <a:lnTo>
                  <a:pt x="60082" y="60082"/>
                </a:lnTo>
                <a:lnTo>
                  <a:pt x="9437" y="60082"/>
                </a:lnTo>
                <a:cubicBezTo>
                  <a:pt x="4225" y="60082"/>
                  <a:pt x="0" y="64307"/>
                  <a:pt x="0" y="69519"/>
                </a:cubicBezTo>
                <a:cubicBezTo>
                  <a:pt x="0" y="74731"/>
                  <a:pt x="4225" y="78956"/>
                  <a:pt x="9437" y="78956"/>
                </a:cubicBezTo>
                <a:lnTo>
                  <a:pt x="60082" y="78956"/>
                </a:lnTo>
                <a:lnTo>
                  <a:pt x="60082" y="129601"/>
                </a:lnTo>
                <a:cubicBezTo>
                  <a:pt x="60082" y="134813"/>
                  <a:pt x="64307" y="139038"/>
                  <a:pt x="69519" y="139038"/>
                </a:cubicBezTo>
                <a:cubicBezTo>
                  <a:pt x="74731" y="139038"/>
                  <a:pt x="78956" y="134813"/>
                  <a:pt x="78956" y="129601"/>
                </a:cubicBezTo>
                <a:lnTo>
                  <a:pt x="78956" y="78956"/>
                </a:lnTo>
                <a:lnTo>
                  <a:pt x="129601" y="78956"/>
                </a:lnTo>
                <a:cubicBezTo>
                  <a:pt x="134813" y="78956"/>
                  <a:pt x="139038" y="74731"/>
                  <a:pt x="139038" y="69519"/>
                </a:cubicBezTo>
                <a:cubicBezTo>
                  <a:pt x="139038" y="64307"/>
                  <a:pt x="134813" y="60082"/>
                  <a:pt x="129601" y="60082"/>
                </a:cubicBezTo>
                <a:close/>
              </a:path>
            </a:pathLst>
          </a:custGeom>
          <a:solidFill>
            <a:schemeClr val="bg1"/>
          </a:solidFill>
          <a:ln w="603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3" name="!!dot graphic">
            <a:extLst>
              <a:ext uri="{FF2B5EF4-FFF2-40B4-BE49-F238E27FC236}">
                <a16:creationId xmlns:a16="http://schemas.microsoft.com/office/drawing/2014/main" id="{712D4376-A578-4FF1-94FC-245E7A6A48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28014" y="1835705"/>
            <a:ext cx="91138" cy="91138"/>
          </a:xfrm>
          <a:custGeom>
            <a:avLst/>
            <a:gdLst>
              <a:gd name="connsiteX0" fmla="*/ 91138 w 91138"/>
              <a:gd name="connsiteY0" fmla="*/ 45569 h 91138"/>
              <a:gd name="connsiteX1" fmla="*/ 45569 w 91138"/>
              <a:gd name="connsiteY1" fmla="*/ 91138 h 91138"/>
              <a:gd name="connsiteX2" fmla="*/ 0 w 91138"/>
              <a:gd name="connsiteY2" fmla="*/ 45569 h 91138"/>
              <a:gd name="connsiteX3" fmla="*/ 45569 w 91138"/>
              <a:gd name="connsiteY3" fmla="*/ 0 h 91138"/>
              <a:gd name="connsiteX4" fmla="*/ 91138 w 91138"/>
              <a:gd name="connsiteY4" fmla="*/ 45569 h 91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138" h="91138">
                <a:moveTo>
                  <a:pt x="91138" y="45569"/>
                </a:moveTo>
                <a:cubicBezTo>
                  <a:pt x="91138" y="70736"/>
                  <a:pt x="70736" y="91138"/>
                  <a:pt x="45569" y="91138"/>
                </a:cubicBezTo>
                <a:cubicBezTo>
                  <a:pt x="20402" y="91138"/>
                  <a:pt x="0" y="70736"/>
                  <a:pt x="0" y="45569"/>
                </a:cubicBezTo>
                <a:cubicBezTo>
                  <a:pt x="0" y="20402"/>
                  <a:pt x="20402" y="0"/>
                  <a:pt x="45569" y="0"/>
                </a:cubicBezTo>
                <a:cubicBezTo>
                  <a:pt x="70736" y="0"/>
                  <a:pt x="91138" y="20402"/>
                  <a:pt x="91138" y="45569"/>
                </a:cubicBezTo>
                <a:close/>
              </a:path>
            </a:pathLst>
          </a:custGeom>
          <a:solidFill>
            <a:schemeClr val="bg1"/>
          </a:solidFill>
          <a:ln w="422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5" name="!!circle graphic">
            <a:extLst>
              <a:ext uri="{FF2B5EF4-FFF2-40B4-BE49-F238E27FC236}">
                <a16:creationId xmlns:a16="http://schemas.microsoft.com/office/drawing/2014/main" id="{AEA7509D-F04F-40CB-A0B3-EEF16499CC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53696" y="2060130"/>
            <a:ext cx="127713" cy="127713"/>
          </a:xfrm>
          <a:custGeom>
            <a:avLst/>
            <a:gdLst>
              <a:gd name="connsiteX0" fmla="*/ 63857 w 127713"/>
              <a:gd name="connsiteY0" fmla="*/ 18874 h 127713"/>
              <a:gd name="connsiteX1" fmla="*/ 108839 w 127713"/>
              <a:gd name="connsiteY1" fmla="*/ 63857 h 127713"/>
              <a:gd name="connsiteX2" fmla="*/ 63857 w 127713"/>
              <a:gd name="connsiteY2" fmla="*/ 108839 h 127713"/>
              <a:gd name="connsiteX3" fmla="*/ 18874 w 127713"/>
              <a:gd name="connsiteY3" fmla="*/ 63857 h 127713"/>
              <a:gd name="connsiteX4" fmla="*/ 63857 w 127713"/>
              <a:gd name="connsiteY4" fmla="*/ 18874 h 127713"/>
              <a:gd name="connsiteX5" fmla="*/ 63857 w 127713"/>
              <a:gd name="connsiteY5" fmla="*/ 0 h 127713"/>
              <a:gd name="connsiteX6" fmla="*/ 0 w 127713"/>
              <a:gd name="connsiteY6" fmla="*/ 63857 h 127713"/>
              <a:gd name="connsiteX7" fmla="*/ 63857 w 127713"/>
              <a:gd name="connsiteY7" fmla="*/ 127713 h 127713"/>
              <a:gd name="connsiteX8" fmla="*/ 127713 w 127713"/>
              <a:gd name="connsiteY8" fmla="*/ 63857 h 127713"/>
              <a:gd name="connsiteX9" fmla="*/ 63857 w 127713"/>
              <a:gd name="connsiteY9" fmla="*/ 0 h 1277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7713" h="127713">
                <a:moveTo>
                  <a:pt x="63857" y="18874"/>
                </a:moveTo>
                <a:cubicBezTo>
                  <a:pt x="88700" y="18874"/>
                  <a:pt x="108839" y="39013"/>
                  <a:pt x="108839" y="63857"/>
                </a:cubicBezTo>
                <a:cubicBezTo>
                  <a:pt x="108839" y="88700"/>
                  <a:pt x="88700" y="108839"/>
                  <a:pt x="63857" y="108839"/>
                </a:cubicBezTo>
                <a:cubicBezTo>
                  <a:pt x="39013" y="108839"/>
                  <a:pt x="18874" y="88700"/>
                  <a:pt x="18874" y="63857"/>
                </a:cubicBezTo>
                <a:cubicBezTo>
                  <a:pt x="18898" y="39023"/>
                  <a:pt x="39023" y="18898"/>
                  <a:pt x="63857" y="18874"/>
                </a:cubicBezTo>
                <a:moveTo>
                  <a:pt x="63857" y="0"/>
                </a:moveTo>
                <a:cubicBezTo>
                  <a:pt x="28590" y="0"/>
                  <a:pt x="0" y="28590"/>
                  <a:pt x="0" y="63857"/>
                </a:cubicBezTo>
                <a:cubicBezTo>
                  <a:pt x="0" y="99124"/>
                  <a:pt x="28590" y="127713"/>
                  <a:pt x="63857" y="127713"/>
                </a:cubicBezTo>
                <a:cubicBezTo>
                  <a:pt x="99124" y="127713"/>
                  <a:pt x="127713" y="99124"/>
                  <a:pt x="127713" y="63857"/>
                </a:cubicBezTo>
                <a:cubicBezTo>
                  <a:pt x="127713" y="28590"/>
                  <a:pt x="99124" y="0"/>
                  <a:pt x="63857" y="0"/>
                </a:cubicBezTo>
                <a:close/>
              </a:path>
            </a:pathLst>
          </a:custGeom>
          <a:solidFill>
            <a:schemeClr val="bg1"/>
          </a:solidFill>
          <a:ln w="610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cxnSp>
        <p:nvCxnSpPr>
          <p:cNvPr id="17" name="!!Straight Connector">
            <a:extLst>
              <a:ext uri="{FF2B5EF4-FFF2-40B4-BE49-F238E27FC236}">
                <a16:creationId xmlns:a16="http://schemas.microsoft.com/office/drawing/2014/main" id="{56020367-4FD5-4596-8E10-C5F095CD8D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301262" y="3505200"/>
            <a:ext cx="0" cy="3352800"/>
          </a:xfrm>
          <a:prstGeom prst="line">
            <a:avLst/>
          </a:prstGeom>
          <a:ln w="25400" cap="sq">
            <a:solidFill>
              <a:schemeClr val="bg1"/>
            </a:soli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9" name="Graphic 18">
            <a:extLst>
              <a:ext uri="{FF2B5EF4-FFF2-40B4-BE49-F238E27FC236}">
                <a16:creationId xmlns:a16="http://schemas.microsoft.com/office/drawing/2014/main" id="{508BEF50-7B1E-49A4-BC19-5F4F1D755E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 flipH="1">
            <a:off x="10836425" y="5436655"/>
            <a:ext cx="151536" cy="151536"/>
          </a:xfrm>
          <a:prstGeom prst="rect">
            <a:avLst/>
          </a:prstGeom>
        </p:spPr>
      </p:pic>
      <p:pic>
        <p:nvPicPr>
          <p:cNvPr id="21" name="Graphic 20">
            <a:extLst>
              <a:ext uri="{FF2B5EF4-FFF2-40B4-BE49-F238E27FC236}">
                <a16:creationId xmlns:a16="http://schemas.microsoft.com/office/drawing/2014/main" id="{3FBAD350-5664-4811-A208-657FB882D3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H="1">
            <a:off x="11245175" y="5896734"/>
            <a:ext cx="108625" cy="108625"/>
          </a:xfrm>
          <a:prstGeom prst="rect">
            <a:avLst/>
          </a:prstGeom>
        </p:spPr>
      </p:pic>
      <p:pic>
        <p:nvPicPr>
          <p:cNvPr id="23" name="Graphic 22">
            <a:extLst>
              <a:ext uri="{FF2B5EF4-FFF2-40B4-BE49-F238E27FC236}">
                <a16:creationId xmlns:a16="http://schemas.microsoft.com/office/drawing/2014/main" id="{C39ADB8F-D187-49D7-BDCF-C1B6DC7270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flipH="1">
            <a:off x="10554288" y="6038004"/>
            <a:ext cx="95759" cy="95759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DF0A379D-D9C7-8BC2-34A3-729465F62266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9799" r="20391" b="2"/>
          <a:stretch>
            <a:fillRect/>
          </a:stretch>
        </p:blipFill>
        <p:spPr>
          <a:xfrm>
            <a:off x="6740358" y="1606411"/>
            <a:ext cx="5451642" cy="5251590"/>
          </a:xfrm>
          <a:custGeom>
            <a:avLst/>
            <a:gdLst/>
            <a:ahLst/>
            <a:cxnLst/>
            <a:rect l="l" t="t" r="r" b="b"/>
            <a:pathLst>
              <a:path w="5923214" h="5705857">
                <a:moveTo>
                  <a:pt x="3612238" y="0"/>
                </a:moveTo>
                <a:cubicBezTo>
                  <a:pt x="4485043" y="0"/>
                  <a:pt x="5285549" y="309553"/>
                  <a:pt x="5909957" y="824860"/>
                </a:cubicBezTo>
                <a:lnTo>
                  <a:pt x="5923214" y="836909"/>
                </a:lnTo>
                <a:lnTo>
                  <a:pt x="5923214" y="5705857"/>
                </a:lnTo>
                <a:lnTo>
                  <a:pt x="672237" y="5705857"/>
                </a:lnTo>
                <a:lnTo>
                  <a:pt x="616914" y="5631875"/>
                </a:lnTo>
                <a:cubicBezTo>
                  <a:pt x="227427" y="5055358"/>
                  <a:pt x="0" y="4360357"/>
                  <a:pt x="0" y="3612238"/>
                </a:cubicBezTo>
                <a:cubicBezTo>
                  <a:pt x="0" y="1617255"/>
                  <a:pt x="1617255" y="0"/>
                  <a:pt x="3612238" y="0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399238641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EDB5F4-3BF6-497A-48FF-017CB15591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Part 1 – Approach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1B5B7B-EE18-EB6F-E7AD-6D5F1DEC69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8378983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CEAD95-E2F3-1454-3809-832098E092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Part 1 – Results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77B685-5EAF-7CEA-BF76-3B9365AED6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088677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040810-D060-8C4E-8BAA-E64C6833A0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Part 1 – 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3E2549-1EBC-B27D-5B4C-56123FFE16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28926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F4FC0C-A23E-D74B-F1DF-5D461D2166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Part 2 – Approach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5BBA4F-AC3D-AC68-6162-E0F999A879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Model Selection (Traditional): </a:t>
            </a:r>
            <a:r>
              <a:rPr lang="en-US" dirty="0" err="1"/>
              <a:t>LogReg</a:t>
            </a:r>
            <a:endParaRPr lang="en-US" dirty="0"/>
          </a:p>
          <a:p>
            <a:pPr lvl="1"/>
            <a:r>
              <a:rPr lang="en-US" dirty="0" err="1"/>
              <a:t>StratifiedKFold</a:t>
            </a:r>
            <a:r>
              <a:rPr lang="en-US" dirty="0"/>
              <a:t> CV used to determine best model</a:t>
            </a:r>
          </a:p>
          <a:p>
            <a:pPr lvl="1"/>
            <a:r>
              <a:rPr lang="en-US" dirty="0" err="1"/>
              <a:t>StandardScalar</a:t>
            </a:r>
            <a:r>
              <a:rPr lang="en-US" dirty="0"/>
              <a:t> used to normalize data</a:t>
            </a:r>
          </a:p>
          <a:p>
            <a:pPr lvl="1"/>
            <a:r>
              <a:rPr lang="en-US" dirty="0" err="1"/>
              <a:t>SelectKBest</a:t>
            </a:r>
            <a:r>
              <a:rPr lang="en-US" dirty="0"/>
              <a:t> used to reduce dimensionality</a:t>
            </a:r>
          </a:p>
          <a:p>
            <a:pPr lvl="1"/>
            <a:endParaRPr lang="en-US" dirty="0"/>
          </a:p>
          <a:p>
            <a:r>
              <a:rPr lang="en-US" dirty="0"/>
              <a:t>Model Selection (Deep Learning): MLP</a:t>
            </a:r>
          </a:p>
          <a:p>
            <a:pPr lvl="1"/>
            <a:r>
              <a:rPr lang="en-US" dirty="0" err="1"/>
              <a:t>RepeatedStratifiedKFold</a:t>
            </a:r>
            <a:r>
              <a:rPr lang="en-US" dirty="0"/>
              <a:t> CV used to determine hyperparameters</a:t>
            </a:r>
          </a:p>
          <a:p>
            <a:pPr lvl="1"/>
            <a:r>
              <a:rPr lang="en-US" dirty="0" err="1"/>
              <a:t>StandardScalar</a:t>
            </a:r>
            <a:r>
              <a:rPr lang="en-US" dirty="0"/>
              <a:t> used to normalize data</a:t>
            </a:r>
          </a:p>
          <a:p>
            <a:pPr lvl="1"/>
            <a:r>
              <a:rPr lang="en-US" dirty="0" err="1"/>
              <a:t>SelectKBest</a:t>
            </a:r>
            <a:r>
              <a:rPr lang="en-US" dirty="0"/>
              <a:t> used to reduce dimensionality</a:t>
            </a:r>
          </a:p>
          <a:p>
            <a:pPr lvl="1"/>
            <a:r>
              <a:rPr lang="en-US" dirty="0" err="1"/>
              <a:t>ReLU</a:t>
            </a:r>
            <a:r>
              <a:rPr lang="en-US" dirty="0"/>
              <a:t> with 0.25 dropout</a:t>
            </a:r>
          </a:p>
          <a:p>
            <a:pPr lvl="1"/>
            <a:r>
              <a:rPr lang="en-US" dirty="0" err="1"/>
              <a:t>BatchNorm</a:t>
            </a:r>
            <a:r>
              <a:rPr lang="en-US" dirty="0"/>
              <a:t> used to normalize activations</a:t>
            </a:r>
          </a:p>
          <a:p>
            <a:pPr lvl="1"/>
            <a:r>
              <a:rPr lang="en-US" dirty="0" err="1"/>
              <a:t>BCEWithLogitsLoss</a:t>
            </a:r>
            <a:r>
              <a:rPr lang="en-US" dirty="0"/>
              <a:t> used to measure error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596920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AD0586-234F-A455-C049-C953A2065E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Part 2 – Results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1478C8-F244-57BA-FCE1-BB7325332B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39939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4B22E2-45CD-80E4-43BD-6E3DC616A6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Part </a:t>
            </a:r>
            <a:r>
              <a:rPr lang="en-US"/>
              <a:t>2 – 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469714-4927-D2FD-DF64-9AC2069007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777509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D1B787A8-0D67-4B7E-9B48-86BD906AB6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5890" y="1114050"/>
            <a:ext cx="0" cy="5735637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angle 9">
            <a:extLst>
              <a:ext uri="{FF2B5EF4-FFF2-40B4-BE49-F238E27FC236}">
                <a16:creationId xmlns:a16="http://schemas.microsoft.com/office/drawing/2014/main" id="{1A3C89F8-0D2F-47FF-B903-151248265F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100000">
                <a:schemeClr val="accent4"/>
              </a:gs>
              <a:gs pos="0">
                <a:schemeClr val="accent2"/>
              </a:gs>
            </a:gsLst>
            <a:lin ang="81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012D572-E7D2-348C-349D-BB4E872DF1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80430" y="583345"/>
            <a:ext cx="7160357" cy="4164820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r"/>
            <a:r>
              <a:rPr lang="en-US" sz="7200" b="1" i="0" kern="1200" cap="all" baseline="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Thank You</a:t>
            </a:r>
          </a:p>
        </p:txBody>
      </p:sp>
      <p:sp>
        <p:nvSpPr>
          <p:cNvPr id="12" name="Graphic 13">
            <a:extLst>
              <a:ext uri="{FF2B5EF4-FFF2-40B4-BE49-F238E27FC236}">
                <a16:creationId xmlns:a16="http://schemas.microsoft.com/office/drawing/2014/main" id="{C5CB530E-515E-412C-9DF1-5F8FFBD6F3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74359" y="583345"/>
            <a:ext cx="139039" cy="139039"/>
          </a:xfrm>
          <a:custGeom>
            <a:avLst/>
            <a:gdLst>
              <a:gd name="connsiteX0" fmla="*/ 129602 w 139039"/>
              <a:gd name="connsiteY0" fmla="*/ 60082 h 139039"/>
              <a:gd name="connsiteX1" fmla="*/ 78957 w 139039"/>
              <a:gd name="connsiteY1" fmla="*/ 60082 h 139039"/>
              <a:gd name="connsiteX2" fmla="*/ 78957 w 139039"/>
              <a:gd name="connsiteY2" fmla="*/ 9437 h 139039"/>
              <a:gd name="connsiteX3" fmla="*/ 69520 w 139039"/>
              <a:gd name="connsiteY3" fmla="*/ 0 h 139039"/>
              <a:gd name="connsiteX4" fmla="*/ 60082 w 139039"/>
              <a:gd name="connsiteY4" fmla="*/ 9437 h 139039"/>
              <a:gd name="connsiteX5" fmla="*/ 60082 w 139039"/>
              <a:gd name="connsiteY5" fmla="*/ 60082 h 139039"/>
              <a:gd name="connsiteX6" fmla="*/ 9437 w 139039"/>
              <a:gd name="connsiteY6" fmla="*/ 60082 h 139039"/>
              <a:gd name="connsiteX7" fmla="*/ 0 w 139039"/>
              <a:gd name="connsiteY7" fmla="*/ 69520 h 139039"/>
              <a:gd name="connsiteX8" fmla="*/ 9437 w 139039"/>
              <a:gd name="connsiteY8" fmla="*/ 78957 h 139039"/>
              <a:gd name="connsiteX9" fmla="*/ 60082 w 139039"/>
              <a:gd name="connsiteY9" fmla="*/ 78957 h 139039"/>
              <a:gd name="connsiteX10" fmla="*/ 60082 w 139039"/>
              <a:gd name="connsiteY10" fmla="*/ 129602 h 139039"/>
              <a:gd name="connsiteX11" fmla="*/ 69520 w 139039"/>
              <a:gd name="connsiteY11" fmla="*/ 139039 h 139039"/>
              <a:gd name="connsiteX12" fmla="*/ 78957 w 139039"/>
              <a:gd name="connsiteY12" fmla="*/ 129602 h 139039"/>
              <a:gd name="connsiteX13" fmla="*/ 78957 w 139039"/>
              <a:gd name="connsiteY13" fmla="*/ 78957 h 139039"/>
              <a:gd name="connsiteX14" fmla="*/ 129602 w 139039"/>
              <a:gd name="connsiteY14" fmla="*/ 78957 h 139039"/>
              <a:gd name="connsiteX15" fmla="*/ 139039 w 139039"/>
              <a:gd name="connsiteY15" fmla="*/ 69520 h 139039"/>
              <a:gd name="connsiteX16" fmla="*/ 129602 w 139039"/>
              <a:gd name="connsiteY16" fmla="*/ 60082 h 1390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39039" h="139039">
                <a:moveTo>
                  <a:pt x="129602" y="60082"/>
                </a:moveTo>
                <a:lnTo>
                  <a:pt x="78957" y="60082"/>
                </a:lnTo>
                <a:lnTo>
                  <a:pt x="78957" y="9437"/>
                </a:lnTo>
                <a:cubicBezTo>
                  <a:pt x="78957" y="4225"/>
                  <a:pt x="74731" y="0"/>
                  <a:pt x="69520" y="0"/>
                </a:cubicBezTo>
                <a:cubicBezTo>
                  <a:pt x="64308" y="0"/>
                  <a:pt x="60082" y="4225"/>
                  <a:pt x="60082" y="9437"/>
                </a:cubicBezTo>
                <a:lnTo>
                  <a:pt x="60082" y="60082"/>
                </a:lnTo>
                <a:lnTo>
                  <a:pt x="9437" y="60082"/>
                </a:lnTo>
                <a:cubicBezTo>
                  <a:pt x="4225" y="60082"/>
                  <a:pt x="0" y="64308"/>
                  <a:pt x="0" y="69520"/>
                </a:cubicBezTo>
                <a:cubicBezTo>
                  <a:pt x="0" y="74731"/>
                  <a:pt x="4225" y="78957"/>
                  <a:pt x="9437" y="78957"/>
                </a:cubicBezTo>
                <a:lnTo>
                  <a:pt x="60082" y="78957"/>
                </a:lnTo>
                <a:lnTo>
                  <a:pt x="60082" y="129602"/>
                </a:lnTo>
                <a:cubicBezTo>
                  <a:pt x="60082" y="134814"/>
                  <a:pt x="64308" y="139039"/>
                  <a:pt x="69520" y="139039"/>
                </a:cubicBezTo>
                <a:cubicBezTo>
                  <a:pt x="74731" y="139039"/>
                  <a:pt x="78957" y="134814"/>
                  <a:pt x="78957" y="129602"/>
                </a:cubicBezTo>
                <a:lnTo>
                  <a:pt x="78957" y="78957"/>
                </a:lnTo>
                <a:lnTo>
                  <a:pt x="129602" y="78957"/>
                </a:lnTo>
                <a:cubicBezTo>
                  <a:pt x="134814" y="78957"/>
                  <a:pt x="139039" y="74731"/>
                  <a:pt x="139039" y="69520"/>
                </a:cubicBezTo>
                <a:cubicBezTo>
                  <a:pt x="139039" y="64308"/>
                  <a:pt x="134814" y="60082"/>
                  <a:pt x="129602" y="60082"/>
                </a:cubicBezTo>
                <a:close/>
              </a:path>
            </a:pathLst>
          </a:custGeom>
          <a:solidFill>
            <a:schemeClr val="bg1"/>
          </a:solidFill>
          <a:ln w="603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4" name="Graphic 12">
            <a:extLst>
              <a:ext uri="{FF2B5EF4-FFF2-40B4-BE49-F238E27FC236}">
                <a16:creationId xmlns:a16="http://schemas.microsoft.com/office/drawing/2014/main" id="{712D4376-A578-4FF1-94FC-245E7A6A48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33139" y="812640"/>
            <a:ext cx="91138" cy="91138"/>
          </a:xfrm>
          <a:custGeom>
            <a:avLst/>
            <a:gdLst>
              <a:gd name="connsiteX0" fmla="*/ 91138 w 91138"/>
              <a:gd name="connsiteY0" fmla="*/ 45569 h 91138"/>
              <a:gd name="connsiteX1" fmla="*/ 45569 w 91138"/>
              <a:gd name="connsiteY1" fmla="*/ 91138 h 91138"/>
              <a:gd name="connsiteX2" fmla="*/ 0 w 91138"/>
              <a:gd name="connsiteY2" fmla="*/ 45569 h 91138"/>
              <a:gd name="connsiteX3" fmla="*/ 45569 w 91138"/>
              <a:gd name="connsiteY3" fmla="*/ 0 h 91138"/>
              <a:gd name="connsiteX4" fmla="*/ 91138 w 91138"/>
              <a:gd name="connsiteY4" fmla="*/ 45569 h 91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138" h="91138">
                <a:moveTo>
                  <a:pt x="91138" y="45569"/>
                </a:moveTo>
                <a:cubicBezTo>
                  <a:pt x="91138" y="70736"/>
                  <a:pt x="70736" y="91138"/>
                  <a:pt x="45569" y="91138"/>
                </a:cubicBezTo>
                <a:cubicBezTo>
                  <a:pt x="20402" y="91138"/>
                  <a:pt x="0" y="70736"/>
                  <a:pt x="0" y="45569"/>
                </a:cubicBezTo>
                <a:cubicBezTo>
                  <a:pt x="0" y="20402"/>
                  <a:pt x="20402" y="0"/>
                  <a:pt x="45569" y="0"/>
                </a:cubicBezTo>
                <a:cubicBezTo>
                  <a:pt x="70736" y="0"/>
                  <a:pt x="91138" y="20402"/>
                  <a:pt x="91138" y="45569"/>
                </a:cubicBezTo>
                <a:close/>
              </a:path>
            </a:pathLst>
          </a:custGeom>
          <a:solidFill>
            <a:schemeClr val="bg1"/>
          </a:solidFill>
          <a:ln w="422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6" name="Graphic 15">
            <a:extLst>
              <a:ext uri="{FF2B5EF4-FFF2-40B4-BE49-F238E27FC236}">
                <a16:creationId xmlns:a16="http://schemas.microsoft.com/office/drawing/2014/main" id="{AEA7509D-F04F-40CB-A0B3-EEF16499CC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58819" y="1037066"/>
            <a:ext cx="127714" cy="127714"/>
          </a:xfrm>
          <a:custGeom>
            <a:avLst/>
            <a:gdLst>
              <a:gd name="connsiteX0" fmla="*/ 63857 w 127714"/>
              <a:gd name="connsiteY0" fmla="*/ 18874 h 127714"/>
              <a:gd name="connsiteX1" fmla="*/ 108840 w 127714"/>
              <a:gd name="connsiteY1" fmla="*/ 63857 h 127714"/>
              <a:gd name="connsiteX2" fmla="*/ 63857 w 127714"/>
              <a:gd name="connsiteY2" fmla="*/ 108840 h 127714"/>
              <a:gd name="connsiteX3" fmla="*/ 18874 w 127714"/>
              <a:gd name="connsiteY3" fmla="*/ 63857 h 127714"/>
              <a:gd name="connsiteX4" fmla="*/ 63857 w 127714"/>
              <a:gd name="connsiteY4" fmla="*/ 18874 h 127714"/>
              <a:gd name="connsiteX5" fmla="*/ 63857 w 127714"/>
              <a:gd name="connsiteY5" fmla="*/ 0 h 127714"/>
              <a:gd name="connsiteX6" fmla="*/ 0 w 127714"/>
              <a:gd name="connsiteY6" fmla="*/ 63857 h 127714"/>
              <a:gd name="connsiteX7" fmla="*/ 63857 w 127714"/>
              <a:gd name="connsiteY7" fmla="*/ 127714 h 127714"/>
              <a:gd name="connsiteX8" fmla="*/ 127714 w 127714"/>
              <a:gd name="connsiteY8" fmla="*/ 63857 h 127714"/>
              <a:gd name="connsiteX9" fmla="*/ 63857 w 127714"/>
              <a:gd name="connsiteY9" fmla="*/ 0 h 1277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7714" h="127714">
                <a:moveTo>
                  <a:pt x="63857" y="18874"/>
                </a:moveTo>
                <a:cubicBezTo>
                  <a:pt x="88700" y="18874"/>
                  <a:pt x="108840" y="39014"/>
                  <a:pt x="108840" y="63857"/>
                </a:cubicBezTo>
                <a:cubicBezTo>
                  <a:pt x="108840" y="88700"/>
                  <a:pt x="88700" y="108840"/>
                  <a:pt x="63857" y="108840"/>
                </a:cubicBezTo>
                <a:cubicBezTo>
                  <a:pt x="39014" y="108840"/>
                  <a:pt x="18874" y="88700"/>
                  <a:pt x="18874" y="63857"/>
                </a:cubicBezTo>
                <a:cubicBezTo>
                  <a:pt x="18898" y="39024"/>
                  <a:pt x="39024" y="18898"/>
                  <a:pt x="63857" y="18874"/>
                </a:cubicBezTo>
                <a:moveTo>
                  <a:pt x="63857" y="0"/>
                </a:moveTo>
                <a:cubicBezTo>
                  <a:pt x="28590" y="0"/>
                  <a:pt x="0" y="28590"/>
                  <a:pt x="0" y="63857"/>
                </a:cubicBezTo>
                <a:cubicBezTo>
                  <a:pt x="0" y="99124"/>
                  <a:pt x="28590" y="127714"/>
                  <a:pt x="63857" y="127714"/>
                </a:cubicBezTo>
                <a:cubicBezTo>
                  <a:pt x="99124" y="127714"/>
                  <a:pt x="127714" y="99124"/>
                  <a:pt x="127714" y="63857"/>
                </a:cubicBezTo>
                <a:cubicBezTo>
                  <a:pt x="127714" y="28590"/>
                  <a:pt x="99124" y="0"/>
                  <a:pt x="63857" y="0"/>
                </a:cubicBezTo>
                <a:close/>
              </a:path>
            </a:pathLst>
          </a:custGeom>
          <a:solidFill>
            <a:schemeClr val="bg1"/>
          </a:solidFill>
          <a:ln w="610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56020367-4FD5-4596-8E10-C5F095CD8D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56114" y="3503032"/>
            <a:ext cx="0" cy="3346090"/>
          </a:xfrm>
          <a:prstGeom prst="line">
            <a:avLst/>
          </a:prstGeom>
          <a:ln w="25400" cap="sq">
            <a:solidFill>
              <a:schemeClr val="bg1"/>
            </a:soli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Graphic 22">
            <a:extLst>
              <a:ext uri="{FF2B5EF4-FFF2-40B4-BE49-F238E27FC236}">
                <a16:creationId xmlns:a16="http://schemas.microsoft.com/office/drawing/2014/main" id="{508BEF50-7B1E-49A4-BC19-5F4F1D755E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836425" y="5636680"/>
            <a:ext cx="151536" cy="151536"/>
          </a:xfrm>
          <a:custGeom>
            <a:avLst/>
            <a:gdLst>
              <a:gd name="connsiteX0" fmla="*/ 141251 w 151536"/>
              <a:gd name="connsiteY0" fmla="*/ 65483 h 151536"/>
              <a:gd name="connsiteX1" fmla="*/ 86053 w 151536"/>
              <a:gd name="connsiteY1" fmla="*/ 65483 h 151536"/>
              <a:gd name="connsiteX2" fmla="*/ 86053 w 151536"/>
              <a:gd name="connsiteY2" fmla="*/ 10285 h 151536"/>
              <a:gd name="connsiteX3" fmla="*/ 75768 w 151536"/>
              <a:gd name="connsiteY3" fmla="*/ 0 h 151536"/>
              <a:gd name="connsiteX4" fmla="*/ 65483 w 151536"/>
              <a:gd name="connsiteY4" fmla="*/ 10285 h 151536"/>
              <a:gd name="connsiteX5" fmla="*/ 65483 w 151536"/>
              <a:gd name="connsiteY5" fmla="*/ 65483 h 151536"/>
              <a:gd name="connsiteX6" fmla="*/ 10285 w 151536"/>
              <a:gd name="connsiteY6" fmla="*/ 65483 h 151536"/>
              <a:gd name="connsiteX7" fmla="*/ 0 w 151536"/>
              <a:gd name="connsiteY7" fmla="*/ 75768 h 151536"/>
              <a:gd name="connsiteX8" fmla="*/ 10285 w 151536"/>
              <a:gd name="connsiteY8" fmla="*/ 86053 h 151536"/>
              <a:gd name="connsiteX9" fmla="*/ 65483 w 151536"/>
              <a:gd name="connsiteY9" fmla="*/ 86053 h 151536"/>
              <a:gd name="connsiteX10" fmla="*/ 65483 w 151536"/>
              <a:gd name="connsiteY10" fmla="*/ 141251 h 151536"/>
              <a:gd name="connsiteX11" fmla="*/ 75768 w 151536"/>
              <a:gd name="connsiteY11" fmla="*/ 151536 h 151536"/>
              <a:gd name="connsiteX12" fmla="*/ 86053 w 151536"/>
              <a:gd name="connsiteY12" fmla="*/ 141251 h 151536"/>
              <a:gd name="connsiteX13" fmla="*/ 86053 w 151536"/>
              <a:gd name="connsiteY13" fmla="*/ 86053 h 151536"/>
              <a:gd name="connsiteX14" fmla="*/ 141251 w 151536"/>
              <a:gd name="connsiteY14" fmla="*/ 86053 h 151536"/>
              <a:gd name="connsiteX15" fmla="*/ 151536 w 151536"/>
              <a:gd name="connsiteY15" fmla="*/ 75768 h 151536"/>
              <a:gd name="connsiteX16" fmla="*/ 141251 w 151536"/>
              <a:gd name="connsiteY16" fmla="*/ 65483 h 151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51536" h="151536">
                <a:moveTo>
                  <a:pt x="141251" y="65483"/>
                </a:moveTo>
                <a:lnTo>
                  <a:pt x="86053" y="65483"/>
                </a:lnTo>
                <a:lnTo>
                  <a:pt x="86053" y="10285"/>
                </a:lnTo>
                <a:cubicBezTo>
                  <a:pt x="86053" y="4605"/>
                  <a:pt x="81448" y="0"/>
                  <a:pt x="75768" y="0"/>
                </a:cubicBezTo>
                <a:cubicBezTo>
                  <a:pt x="70088" y="0"/>
                  <a:pt x="65483" y="4605"/>
                  <a:pt x="65483" y="10285"/>
                </a:cubicBezTo>
                <a:lnTo>
                  <a:pt x="65483" y="65483"/>
                </a:lnTo>
                <a:lnTo>
                  <a:pt x="10285" y="65483"/>
                </a:lnTo>
                <a:cubicBezTo>
                  <a:pt x="4605" y="65483"/>
                  <a:pt x="0" y="70088"/>
                  <a:pt x="0" y="75768"/>
                </a:cubicBezTo>
                <a:cubicBezTo>
                  <a:pt x="0" y="81448"/>
                  <a:pt x="4605" y="86053"/>
                  <a:pt x="10285" y="86053"/>
                </a:cubicBezTo>
                <a:lnTo>
                  <a:pt x="65483" y="86053"/>
                </a:lnTo>
                <a:lnTo>
                  <a:pt x="65483" y="141251"/>
                </a:lnTo>
                <a:cubicBezTo>
                  <a:pt x="65483" y="146931"/>
                  <a:pt x="70088" y="151536"/>
                  <a:pt x="75768" y="151536"/>
                </a:cubicBezTo>
                <a:cubicBezTo>
                  <a:pt x="81448" y="151536"/>
                  <a:pt x="86053" y="146931"/>
                  <a:pt x="86053" y="141251"/>
                </a:cubicBezTo>
                <a:lnTo>
                  <a:pt x="86053" y="86053"/>
                </a:lnTo>
                <a:lnTo>
                  <a:pt x="141251" y="86053"/>
                </a:lnTo>
                <a:cubicBezTo>
                  <a:pt x="146931" y="86053"/>
                  <a:pt x="151536" y="81448"/>
                  <a:pt x="151536" y="75768"/>
                </a:cubicBezTo>
                <a:cubicBezTo>
                  <a:pt x="151536" y="70088"/>
                  <a:pt x="146931" y="65483"/>
                  <a:pt x="141251" y="65483"/>
                </a:cubicBezTo>
                <a:close/>
              </a:path>
            </a:pathLst>
          </a:custGeom>
          <a:solidFill>
            <a:schemeClr val="bg1"/>
          </a:solidFill>
          <a:ln w="646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2" name="Graphic 23">
            <a:extLst>
              <a:ext uri="{FF2B5EF4-FFF2-40B4-BE49-F238E27FC236}">
                <a16:creationId xmlns:a16="http://schemas.microsoft.com/office/drawing/2014/main" id="{3FBAD350-5664-4811-A208-657FB882D3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245175" y="6096759"/>
            <a:ext cx="108625" cy="108625"/>
          </a:xfrm>
          <a:custGeom>
            <a:avLst/>
            <a:gdLst>
              <a:gd name="connsiteX0" fmla="*/ 54313 w 108625"/>
              <a:gd name="connsiteY0" fmla="*/ 16053 h 108625"/>
              <a:gd name="connsiteX1" fmla="*/ 92572 w 108625"/>
              <a:gd name="connsiteY1" fmla="*/ 54313 h 108625"/>
              <a:gd name="connsiteX2" fmla="*/ 54313 w 108625"/>
              <a:gd name="connsiteY2" fmla="*/ 92572 h 108625"/>
              <a:gd name="connsiteX3" fmla="*/ 16053 w 108625"/>
              <a:gd name="connsiteY3" fmla="*/ 54313 h 108625"/>
              <a:gd name="connsiteX4" fmla="*/ 54313 w 108625"/>
              <a:gd name="connsiteY4" fmla="*/ 16053 h 108625"/>
              <a:gd name="connsiteX5" fmla="*/ 54313 w 108625"/>
              <a:gd name="connsiteY5" fmla="*/ 0 h 108625"/>
              <a:gd name="connsiteX6" fmla="*/ 0 w 108625"/>
              <a:gd name="connsiteY6" fmla="*/ 54313 h 108625"/>
              <a:gd name="connsiteX7" fmla="*/ 54313 w 108625"/>
              <a:gd name="connsiteY7" fmla="*/ 108625 h 108625"/>
              <a:gd name="connsiteX8" fmla="*/ 108625 w 108625"/>
              <a:gd name="connsiteY8" fmla="*/ 54313 h 108625"/>
              <a:gd name="connsiteX9" fmla="*/ 54313 w 108625"/>
              <a:gd name="connsiteY9" fmla="*/ 0 h 1086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08625" h="108625">
                <a:moveTo>
                  <a:pt x="54313" y="16053"/>
                </a:moveTo>
                <a:cubicBezTo>
                  <a:pt x="75442" y="16053"/>
                  <a:pt x="92572" y="33182"/>
                  <a:pt x="92572" y="54313"/>
                </a:cubicBezTo>
                <a:cubicBezTo>
                  <a:pt x="92572" y="75442"/>
                  <a:pt x="75442" y="92572"/>
                  <a:pt x="54313" y="92572"/>
                </a:cubicBezTo>
                <a:cubicBezTo>
                  <a:pt x="33182" y="92572"/>
                  <a:pt x="16053" y="75442"/>
                  <a:pt x="16053" y="54313"/>
                </a:cubicBezTo>
                <a:cubicBezTo>
                  <a:pt x="16074" y="33191"/>
                  <a:pt x="33191" y="16074"/>
                  <a:pt x="54313" y="16053"/>
                </a:cubicBezTo>
                <a:moveTo>
                  <a:pt x="54313" y="0"/>
                </a:moveTo>
                <a:cubicBezTo>
                  <a:pt x="24317" y="0"/>
                  <a:pt x="0" y="24317"/>
                  <a:pt x="0" y="54313"/>
                </a:cubicBezTo>
                <a:cubicBezTo>
                  <a:pt x="0" y="84309"/>
                  <a:pt x="24317" y="108625"/>
                  <a:pt x="54313" y="108625"/>
                </a:cubicBezTo>
                <a:cubicBezTo>
                  <a:pt x="84309" y="108625"/>
                  <a:pt x="108625" y="84309"/>
                  <a:pt x="108625" y="54313"/>
                </a:cubicBezTo>
                <a:cubicBezTo>
                  <a:pt x="108625" y="24317"/>
                  <a:pt x="84309" y="0"/>
                  <a:pt x="54313" y="0"/>
                </a:cubicBezTo>
                <a:close/>
              </a:path>
            </a:pathLst>
          </a:custGeom>
          <a:solidFill>
            <a:schemeClr val="bg1"/>
          </a:solidFill>
          <a:ln w="516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4" name="Graphic 21">
            <a:extLst>
              <a:ext uri="{FF2B5EF4-FFF2-40B4-BE49-F238E27FC236}">
                <a16:creationId xmlns:a16="http://schemas.microsoft.com/office/drawing/2014/main" id="{C39ADB8F-D187-49D7-BDCF-C1B6DC7270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554288" y="6238029"/>
            <a:ext cx="95759" cy="95759"/>
          </a:xfrm>
          <a:custGeom>
            <a:avLst/>
            <a:gdLst>
              <a:gd name="connsiteX0" fmla="*/ 95759 w 95759"/>
              <a:gd name="connsiteY0" fmla="*/ 47880 h 95759"/>
              <a:gd name="connsiteX1" fmla="*/ 47880 w 95759"/>
              <a:gd name="connsiteY1" fmla="*/ 95759 h 95759"/>
              <a:gd name="connsiteX2" fmla="*/ 0 w 95759"/>
              <a:gd name="connsiteY2" fmla="*/ 47880 h 95759"/>
              <a:gd name="connsiteX3" fmla="*/ 47880 w 95759"/>
              <a:gd name="connsiteY3" fmla="*/ 0 h 95759"/>
              <a:gd name="connsiteX4" fmla="*/ 95759 w 95759"/>
              <a:gd name="connsiteY4" fmla="*/ 47880 h 957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5759" h="95759">
                <a:moveTo>
                  <a:pt x="95759" y="47880"/>
                </a:moveTo>
                <a:cubicBezTo>
                  <a:pt x="95759" y="74323"/>
                  <a:pt x="74323" y="95759"/>
                  <a:pt x="47880" y="95759"/>
                </a:cubicBezTo>
                <a:cubicBezTo>
                  <a:pt x="21436" y="95759"/>
                  <a:pt x="0" y="74323"/>
                  <a:pt x="0" y="47880"/>
                </a:cubicBezTo>
                <a:cubicBezTo>
                  <a:pt x="0" y="21436"/>
                  <a:pt x="21436" y="0"/>
                  <a:pt x="47880" y="0"/>
                </a:cubicBezTo>
                <a:cubicBezTo>
                  <a:pt x="74323" y="0"/>
                  <a:pt x="95759" y="21436"/>
                  <a:pt x="95759" y="47880"/>
                </a:cubicBezTo>
                <a:close/>
              </a:path>
            </a:pathLst>
          </a:custGeom>
          <a:solidFill>
            <a:schemeClr val="bg1"/>
          </a:solidFill>
          <a:ln w="469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442817"/>
      </p:ext>
    </p:extLst>
  </p:cSld>
  <p:clrMapOvr>
    <a:masterClrMapping/>
  </p:clrMapOvr>
</p:sld>
</file>

<file path=ppt/theme/theme1.xml><?xml version="1.0" encoding="utf-8"?>
<a:theme xmlns:a="http://schemas.openxmlformats.org/drawingml/2006/main" name="GradientVTI">
  <a:themeElements>
    <a:clrScheme name="Office">
      <a:dk1>
        <a:srgbClr val="000000"/>
      </a:dk1>
      <a:lt1>
        <a:srgbClr val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Univers">
      <a:majorFont>
        <a:latin typeface="Gill Sans Nova"/>
        <a:ea typeface=""/>
        <a:cs typeface=""/>
      </a:majorFont>
      <a:minorFont>
        <a:latin typeface="Gill Sans Nov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radientVTI" id="{605F9078-86F9-4258-A3E1-F8EFF02AE8CC}" vid="{4848699B-BB01-41E3-9EC4-3D97DFE5292B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</TotalTime>
  <Words>98</Words>
  <Application>Microsoft Office PowerPoint</Application>
  <PresentationFormat>Widescreen</PresentationFormat>
  <Paragraphs>22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Gill Sans Nova</vt:lpstr>
      <vt:lpstr>GradientVTI</vt:lpstr>
      <vt:lpstr>Applied Machine Learning Final Project</vt:lpstr>
      <vt:lpstr>Part 1 – Approach </vt:lpstr>
      <vt:lpstr>Part 1 – Results</vt:lpstr>
      <vt:lpstr>Part 1 – Conclusion</vt:lpstr>
      <vt:lpstr>Part 2 – Approach</vt:lpstr>
      <vt:lpstr>Part 2 – Results</vt:lpstr>
      <vt:lpstr>Part 2 – Conclusion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Williams, Sydney</dc:creator>
  <cp:lastModifiedBy>Williams, Sydney</cp:lastModifiedBy>
  <cp:revision>6</cp:revision>
  <dcterms:created xsi:type="dcterms:W3CDTF">2026-05-10T14:20:58Z</dcterms:created>
  <dcterms:modified xsi:type="dcterms:W3CDTF">2026-05-10T17:04:06Z</dcterms:modified>
</cp:coreProperties>
</file>