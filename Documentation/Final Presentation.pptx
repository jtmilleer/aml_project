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2"/>
  </p:notesMasterIdLst>
  <p:sldIdLst>
    <p:sldId id="256" r:id="rId2"/>
    <p:sldId id="257" r:id="rId3"/>
    <p:sldId id="262" r:id="rId4"/>
    <p:sldId id="265" r:id="rId5"/>
    <p:sldId id="266" r:id="rId6"/>
    <p:sldId id="263" r:id="rId7"/>
    <p:sldId id="259" r:id="rId8"/>
    <p:sldId id="260" r:id="rId9"/>
    <p:sldId id="264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0" d="100"/>
          <a:sy n="60" d="100"/>
        </p:scale>
        <p:origin x="91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80169-19F0-42C0-8076-020E1C68FFA6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6D4FA5-9B1B-4DF8-A772-70222F206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842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was 4:1 imbalanced, very high dimensional but very low sample count</a:t>
            </a:r>
          </a:p>
          <a:p>
            <a:pPr marL="228600" indent="-228600">
              <a:buAutoNum type="arabicPeriod"/>
            </a:pPr>
            <a:r>
              <a:rPr lang="en-US" dirty="0"/>
              <a:t>PCA was initially used instead of </a:t>
            </a:r>
            <a:r>
              <a:rPr lang="en-US" dirty="0" err="1"/>
              <a:t>SelectKBest</a:t>
            </a:r>
            <a:r>
              <a:rPr lang="en-US" dirty="0"/>
              <a:t>, but the features that explained the most variance were not the most predictive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6D4FA5-9B1B-4DF8-A772-70222F2067D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1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Section (Traditional): Gradient Boosting + PCA</a:t>
            </a:r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(k=5) used to test multiple models</a:t>
            </a:r>
          </a:p>
          <a:p>
            <a:pPr lvl="2"/>
            <a:r>
              <a:rPr lang="en-US" dirty="0"/>
              <a:t>Logistic Regression, KNN, SVM...</a:t>
            </a:r>
          </a:p>
          <a:p>
            <a:pPr lvl="2"/>
            <a:r>
              <a:rPr lang="en-US" dirty="0"/>
              <a:t>Performance metric was accuracy over all 5 folds</a:t>
            </a:r>
          </a:p>
          <a:p>
            <a:pPr lvl="3"/>
            <a:r>
              <a:rPr lang="en-US" dirty="0"/>
              <a:t>Perfectly balanced classes</a:t>
            </a:r>
            <a:endParaRPr lang="en-US" b="1" dirty="0"/>
          </a:p>
          <a:p>
            <a:pPr lvl="1"/>
            <a:r>
              <a:rPr lang="en-US" dirty="0"/>
              <a:t>PCA to reduce dimensionality</a:t>
            </a:r>
          </a:p>
          <a:p>
            <a:pPr lvl="2"/>
            <a:r>
              <a:rPr lang="en-US" dirty="0"/>
              <a:t>48 dimensions to 31 dimensions</a:t>
            </a:r>
          </a:p>
          <a:p>
            <a:pPr lvl="2"/>
            <a:r>
              <a:rPr lang="en-US" dirty="0"/>
              <a:t>95% variance threshold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to normalize data</a:t>
            </a:r>
          </a:p>
          <a:p>
            <a:pPr lvl="1"/>
            <a:r>
              <a:rPr lang="en-US" dirty="0"/>
              <a:t>Used </a:t>
            </a:r>
            <a:r>
              <a:rPr lang="en-US" dirty="0" err="1"/>
              <a:t>GirdSearchCV</a:t>
            </a:r>
            <a:r>
              <a:rPr lang="en-US" dirty="0"/>
              <a:t> for some models</a:t>
            </a:r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Five-fold CV results (80%)</a:t>
            </a:r>
          </a:p>
          <a:p>
            <a:pPr lvl="1"/>
            <a:r>
              <a:rPr lang="en-US" dirty="0"/>
              <a:t>Mean accuracy of 0.759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20% held out set</a:t>
            </a:r>
          </a:p>
          <a:p>
            <a:pPr lvl="1"/>
            <a:r>
              <a:rPr lang="en-US" dirty="0"/>
              <a:t>Mean accuracy and F1 score of 0.760</a:t>
            </a:r>
          </a:p>
          <a:p>
            <a:r>
              <a:rPr lang="en-US" dirty="0"/>
              <a:t>Predicted Results on test set</a:t>
            </a:r>
          </a:p>
          <a:p>
            <a:pPr lvl="1"/>
            <a:r>
              <a:rPr lang="en-US" dirty="0"/>
              <a:t>Similar to held out set</a:t>
            </a:r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54F3D-4067-E7D6-865F-49FF49C1E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65C86-32DF-A074-928D-2764F1413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Multi-Layer Perception (MLP)</a:t>
            </a:r>
          </a:p>
          <a:p>
            <a:pPr lvl="1"/>
            <a:r>
              <a:rPr lang="en-US" dirty="0"/>
              <a:t>Two hidden layers, 128 and 64 nodes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261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5E8D-91D7-813C-F768-58A813FB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77AF6-26F1-7D95-A069-4F49FCBF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16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0810-D060-8C4E-8BAA-E64C6833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2549-1EBC-B27D-5B4C-56123FFE1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Training time is costly</a:t>
            </a:r>
          </a:p>
          <a:p>
            <a:pPr>
              <a:lnSpc>
                <a:spcPct val="200000"/>
              </a:lnSpc>
            </a:pPr>
            <a:r>
              <a:rPr lang="en-US" dirty="0"/>
              <a:t>PCA is powerful</a:t>
            </a:r>
          </a:p>
          <a:p>
            <a:pPr>
              <a:lnSpc>
                <a:spcPct val="200000"/>
              </a:lnSpc>
            </a:pPr>
            <a:r>
              <a:rPr lang="en-US" dirty="0"/>
              <a:t>Worth tuning hyperparameters?</a:t>
            </a:r>
          </a:p>
        </p:txBody>
      </p:sp>
    </p:spTree>
    <p:extLst>
      <p:ext uri="{BB962C8B-B14F-4D97-AF65-F5344CB8AC3E}">
        <p14:creationId xmlns:p14="http://schemas.microsoft.com/office/powerpoint/2010/main" val="282289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Model Selection (Traditional): </a:t>
            </a:r>
            <a:r>
              <a:rPr lang="en-US" dirty="0" err="1"/>
              <a:t>LogReg</a:t>
            </a:r>
            <a:endParaRPr lang="en-US" dirty="0"/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used to determine best model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endParaRPr lang="en-US" dirty="0"/>
          </a:p>
          <a:p>
            <a:r>
              <a:rPr lang="en-US" dirty="0"/>
              <a:t>Model Selection (Deep Learning): MLP</a:t>
            </a:r>
          </a:p>
          <a:p>
            <a:pPr lvl="1"/>
            <a:r>
              <a:rPr lang="en-US" dirty="0" err="1"/>
              <a:t>RepeatedStratifiedKFold</a:t>
            </a:r>
            <a:r>
              <a:rPr lang="en-US" dirty="0"/>
              <a:t> CV used to determine hyperparameters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r>
              <a:rPr lang="en-US" dirty="0" err="1"/>
              <a:t>ReLU</a:t>
            </a:r>
            <a:r>
              <a:rPr lang="en-US" dirty="0"/>
              <a:t> with 0.25 dropout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used to normalize activations</a:t>
            </a:r>
          </a:p>
          <a:p>
            <a:pPr lvl="1"/>
            <a:r>
              <a:rPr lang="en-US" dirty="0" err="1"/>
              <a:t>BCEWithLogitsLoss</a:t>
            </a:r>
            <a:r>
              <a:rPr lang="en-US" dirty="0"/>
              <a:t> used to measure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Deep learning model selected for analysis</a:t>
            </a:r>
          </a:p>
          <a:p>
            <a:r>
              <a:rPr lang="en-US" dirty="0"/>
              <a:t>Fifteen-fold repeated CV results (80%)</a:t>
            </a:r>
          </a:p>
          <a:p>
            <a:pPr lvl="1"/>
            <a:r>
              <a:rPr lang="en-US" dirty="0"/>
              <a:t>Mean AUC-ROC of 0.706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Performance on </a:t>
            </a:r>
            <a:r>
              <a:rPr lang="en-US"/>
              <a:t>training set (predicted </a:t>
            </a:r>
            <a:r>
              <a:rPr lang="en-US" dirty="0"/>
              <a:t>Results on test set)</a:t>
            </a:r>
          </a:p>
          <a:p>
            <a:pPr lvl="1"/>
            <a:r>
              <a:rPr lang="en-US" dirty="0"/>
              <a:t>Mean accuracy of 0.7658</a:t>
            </a:r>
          </a:p>
          <a:p>
            <a:pPr lvl="1"/>
            <a:r>
              <a:rPr lang="en-US" dirty="0"/>
              <a:t>Mean F1 score of 0.6823</a:t>
            </a:r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22E2-45CD-80E4-43BD-6E3DC616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</a:t>
            </a:r>
            <a:r>
              <a:rPr lang="en-US"/>
              <a:t>2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69714-4927-D2FD-DF64-9AC206900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dimensional, low sample count data is difficult to work with</a:t>
            </a:r>
          </a:p>
          <a:p>
            <a:pPr lvl="1"/>
            <a:r>
              <a:rPr lang="en-US" dirty="0"/>
              <a:t>Synthesizing data may not always work</a:t>
            </a:r>
          </a:p>
          <a:p>
            <a:pPr lvl="1"/>
            <a:endParaRPr lang="en-US" dirty="0"/>
          </a:p>
          <a:p>
            <a:r>
              <a:rPr lang="en-US" dirty="0"/>
              <a:t>Deep learning can be highly adaptable in ways even the best traditional learning methods aren’t</a:t>
            </a:r>
          </a:p>
        </p:txBody>
      </p:sp>
    </p:spTree>
    <p:extLst>
      <p:ext uri="{BB962C8B-B14F-4D97-AF65-F5344CB8AC3E}">
        <p14:creationId xmlns:p14="http://schemas.microsoft.com/office/powerpoint/2010/main" val="1077775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2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342</Words>
  <Application>Microsoft Office PowerPoint</Application>
  <PresentationFormat>Widescreen</PresentationFormat>
  <Paragraphs>60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Gill Sans Nova</vt:lpstr>
      <vt:lpstr>GradientVTI</vt:lpstr>
      <vt:lpstr>Applied Machine Learning Final Project</vt:lpstr>
      <vt:lpstr>Part 1a – Approach</vt:lpstr>
      <vt:lpstr>Part 1a – Results</vt:lpstr>
      <vt:lpstr>Part 1b – Approach</vt:lpstr>
      <vt:lpstr>Part 1b – Results</vt:lpstr>
      <vt:lpstr>Part 1 – Conclusion</vt:lpstr>
      <vt:lpstr>Part 2 – Approach</vt:lpstr>
      <vt:lpstr>Part 2 – Results</vt:lpstr>
      <vt:lpstr>Part 2 – 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Williams, Sydney</cp:lastModifiedBy>
  <cp:revision>9</cp:revision>
  <dcterms:created xsi:type="dcterms:W3CDTF">2026-05-10T14:20:58Z</dcterms:created>
  <dcterms:modified xsi:type="dcterms:W3CDTF">2026-05-11T01:07:16Z</dcterms:modified>
</cp:coreProperties>
</file>